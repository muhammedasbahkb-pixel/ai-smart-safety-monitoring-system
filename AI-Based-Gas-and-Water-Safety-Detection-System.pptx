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ter"/>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slideLayout" Target="../slideLayouts/slideLayout5.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45462"/>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AI Based Gas and Water Safety Detection System</a:t>
            </a:r>
            <a:endParaRPr lang="en-US" sz="4450" dirty="0"/>
          </a:p>
        </p:txBody>
      </p:sp>
      <p:sp>
        <p:nvSpPr>
          <p:cNvPr id="4" name="Text 1"/>
          <p:cNvSpPr/>
          <p:nvPr/>
        </p:nvSpPr>
        <p:spPr>
          <a:xfrm>
            <a:off x="6280190" y="4503182"/>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Using ESP8266 and Machine Learning for Intelligent Hazard Detection</a:t>
            </a:r>
            <a:endParaRPr lang="en-US" sz="1750" dirty="0"/>
          </a:p>
        </p:txBody>
      </p:sp>
      <p:sp>
        <p:nvSpPr>
          <p:cNvPr id="5" name="Text 2"/>
          <p:cNvSpPr/>
          <p:nvPr/>
        </p:nvSpPr>
        <p:spPr>
          <a:xfrm>
            <a:off x="6280190" y="512123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Student Project | Embedded Systems and AI Integration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80812" y="642699"/>
            <a:ext cx="5848945" cy="697230"/>
          </a:xfrm>
          <a:prstGeom prst="rect">
            <a:avLst/>
          </a:prstGeom>
          <a:noFill/>
          <a:ln/>
        </p:spPr>
        <p:txBody>
          <a:bodyPr wrap="none" lIns="0" tIns="0" rIns="0" bIns="0" rtlCol="0" anchor="t"/>
          <a:lstStyle/>
          <a:p>
            <a:pPr algn="l" indent="0" marL="0">
              <a:lnSpc>
                <a:spcPts val="5450"/>
              </a:lnSpc>
              <a:buNone/>
            </a:pPr>
            <a:r>
              <a:rPr lang="en-US" sz="4350" b="1" dirty="0">
                <a:solidFill>
                  <a:srgbClr val="000000"/>
                </a:solidFill>
                <a:latin typeface="Inter Bold" pitchFamily="34" charset="0"/>
                <a:ea typeface="Inter Bold" pitchFamily="34" charset="-122"/>
                <a:cs typeface="Inter Bold" pitchFamily="34" charset="-120"/>
              </a:rPr>
              <a:t>The Safety Challenge</a:t>
            </a:r>
            <a:endParaRPr lang="en-US" sz="4350" dirty="0"/>
          </a:p>
        </p:txBody>
      </p:sp>
      <p:sp>
        <p:nvSpPr>
          <p:cNvPr id="4" name="Text 1"/>
          <p:cNvSpPr/>
          <p:nvPr/>
        </p:nvSpPr>
        <p:spPr>
          <a:xfrm>
            <a:off x="780812" y="1888450"/>
            <a:ext cx="3519011" cy="836533"/>
          </a:xfrm>
          <a:prstGeom prst="rect">
            <a:avLst/>
          </a:prstGeom>
          <a:noFill/>
          <a:ln/>
        </p:spPr>
        <p:txBody>
          <a:bodyPr wrap="square" lIns="0" tIns="0" rIns="0" bIns="0" rtlCol="0" anchor="t"/>
          <a:lstStyle/>
          <a:p>
            <a:pPr algn="l" indent="0" marL="0">
              <a:lnSpc>
                <a:spcPts val="3250"/>
              </a:lnSpc>
              <a:buNone/>
            </a:pPr>
            <a:r>
              <a:rPr lang="en-US" sz="2600" b="1" dirty="0">
                <a:solidFill>
                  <a:srgbClr val="000000"/>
                </a:solidFill>
                <a:latin typeface="Inter Bold" pitchFamily="34" charset="0"/>
                <a:ea typeface="Inter Bold" pitchFamily="34" charset="-122"/>
                <a:cs typeface="Inter Bold" pitchFamily="34" charset="-120"/>
              </a:rPr>
              <a:t>Why Detection Matters</a:t>
            </a:r>
            <a:endParaRPr lang="en-US" sz="2600" dirty="0"/>
          </a:p>
        </p:txBody>
      </p:sp>
      <p:sp>
        <p:nvSpPr>
          <p:cNvPr id="5" name="Text 2"/>
          <p:cNvSpPr/>
          <p:nvPr/>
        </p:nvSpPr>
        <p:spPr>
          <a:xfrm>
            <a:off x="780812" y="2944416"/>
            <a:ext cx="3519011" cy="2477810"/>
          </a:xfrm>
          <a:prstGeom prst="rect">
            <a:avLst/>
          </a:prstGeom>
          <a:noFill/>
          <a:ln/>
        </p:spPr>
        <p:txBody>
          <a:bodyPr wrap="square" lIns="0" tIns="0" rIns="0" bIns="0" rtlCol="0" anchor="t"/>
          <a:lstStyle/>
          <a:p>
            <a:pPr algn="l" indent="0" marL="0">
              <a:lnSpc>
                <a:spcPts val="2750"/>
              </a:lnSpc>
              <a:buNone/>
            </a:pPr>
            <a:r>
              <a:rPr lang="en-US" sz="1750" dirty="0">
                <a:solidFill>
                  <a:srgbClr val="272525"/>
                </a:solidFill>
                <a:latin typeface="Inter" pitchFamily="34" charset="0"/>
                <a:ea typeface="Inter" pitchFamily="34" charset="-122"/>
                <a:cs typeface="Inter" pitchFamily="34" charset="-120"/>
              </a:rPr>
              <a:t>Gas and water leaks pose serious threats to property and human life. Gas leaks can lead to explosions, poisoning, and fire hazards, whilst water leaks cause structural damage, mould growth, and costly repairs.</a:t>
            </a:r>
            <a:endParaRPr lang="en-US" sz="1750" dirty="0"/>
          </a:p>
        </p:txBody>
      </p:sp>
      <p:sp>
        <p:nvSpPr>
          <p:cNvPr id="6" name="Text 3"/>
          <p:cNvSpPr/>
          <p:nvPr/>
        </p:nvSpPr>
        <p:spPr>
          <a:xfrm>
            <a:off x="780812" y="5619631"/>
            <a:ext cx="3519011" cy="1769864"/>
          </a:xfrm>
          <a:prstGeom prst="rect">
            <a:avLst/>
          </a:prstGeom>
          <a:noFill/>
          <a:ln/>
        </p:spPr>
        <p:txBody>
          <a:bodyPr wrap="square" lIns="0" tIns="0" rIns="0" bIns="0" rtlCol="0" anchor="t"/>
          <a:lstStyle/>
          <a:p>
            <a:pPr algn="l" indent="0" marL="0">
              <a:lnSpc>
                <a:spcPts val="2750"/>
              </a:lnSpc>
              <a:buNone/>
            </a:pPr>
            <a:r>
              <a:rPr lang="en-US" sz="1750" dirty="0">
                <a:solidFill>
                  <a:srgbClr val="272525"/>
                </a:solidFill>
                <a:latin typeface="Inter" pitchFamily="34" charset="0"/>
                <a:ea typeface="Inter" pitchFamily="34" charset="-122"/>
                <a:cs typeface="Inter" pitchFamily="34" charset="-120"/>
              </a:rPr>
              <a:t>Traditional detection systems rely on fixed thresholds, generating frequent false alarms that desensitise occupants and reduce trust in the system.</a:t>
            </a:r>
            <a:endParaRPr lang="en-US" sz="1750" dirty="0"/>
          </a:p>
        </p:txBody>
      </p:sp>
      <p:sp>
        <p:nvSpPr>
          <p:cNvPr id="7" name="Text 4"/>
          <p:cNvSpPr/>
          <p:nvPr/>
        </p:nvSpPr>
        <p:spPr>
          <a:xfrm>
            <a:off x="4851797" y="1888450"/>
            <a:ext cx="3346609" cy="418267"/>
          </a:xfrm>
          <a:prstGeom prst="rect">
            <a:avLst/>
          </a:prstGeom>
          <a:noFill/>
          <a:ln/>
        </p:spPr>
        <p:txBody>
          <a:bodyPr wrap="none" lIns="0" tIns="0" rIns="0" bIns="0" rtlCol="0" anchor="t"/>
          <a:lstStyle/>
          <a:p>
            <a:pPr algn="l" indent="0" marL="0">
              <a:lnSpc>
                <a:spcPts val="3250"/>
              </a:lnSpc>
              <a:buNone/>
            </a:pPr>
            <a:r>
              <a:rPr lang="en-US" sz="2600" b="1" dirty="0">
                <a:solidFill>
                  <a:srgbClr val="000000"/>
                </a:solidFill>
                <a:latin typeface="Inter Bold" pitchFamily="34" charset="0"/>
                <a:ea typeface="Inter Bold" pitchFamily="34" charset="-122"/>
                <a:cs typeface="Inter Bold" pitchFamily="34" charset="-120"/>
              </a:rPr>
              <a:t>Intelligent Solution</a:t>
            </a:r>
            <a:endParaRPr lang="en-US" sz="2600" dirty="0"/>
          </a:p>
        </p:txBody>
      </p:sp>
      <p:sp>
        <p:nvSpPr>
          <p:cNvPr id="8" name="Text 5"/>
          <p:cNvSpPr/>
          <p:nvPr/>
        </p:nvSpPr>
        <p:spPr>
          <a:xfrm>
            <a:off x="4851797" y="2526149"/>
            <a:ext cx="3519011" cy="2477810"/>
          </a:xfrm>
          <a:prstGeom prst="rect">
            <a:avLst/>
          </a:prstGeom>
          <a:noFill/>
          <a:ln/>
        </p:spPr>
        <p:txBody>
          <a:bodyPr wrap="square" lIns="0" tIns="0" rIns="0" bIns="0" rtlCol="0" anchor="t"/>
          <a:lstStyle/>
          <a:p>
            <a:pPr algn="l" indent="0" marL="0">
              <a:lnSpc>
                <a:spcPts val="2750"/>
              </a:lnSpc>
              <a:buNone/>
            </a:pPr>
            <a:r>
              <a:rPr lang="en-US" sz="1750" dirty="0">
                <a:solidFill>
                  <a:srgbClr val="272525"/>
                </a:solidFill>
                <a:latin typeface="Inter" pitchFamily="34" charset="0"/>
                <a:ea typeface="Inter" pitchFamily="34" charset="-122"/>
                <a:cs typeface="Inter" pitchFamily="34" charset="-120"/>
              </a:rPr>
              <a:t>This project addresses these challenges through machine learning algorithms that adapt to environmental patterns, significantly reducing false positives whilst maintaining high detection sensitivity.</a:t>
            </a:r>
            <a:endParaRPr lang="en-US" sz="1750" dirty="0"/>
          </a:p>
        </p:txBody>
      </p:sp>
      <p:sp>
        <p:nvSpPr>
          <p:cNvPr id="9" name="Text 6"/>
          <p:cNvSpPr/>
          <p:nvPr/>
        </p:nvSpPr>
        <p:spPr>
          <a:xfrm>
            <a:off x="4851797" y="5201364"/>
            <a:ext cx="3519011" cy="1769864"/>
          </a:xfrm>
          <a:prstGeom prst="rect">
            <a:avLst/>
          </a:prstGeom>
          <a:noFill/>
          <a:ln/>
        </p:spPr>
        <p:txBody>
          <a:bodyPr wrap="square" lIns="0" tIns="0" rIns="0" bIns="0" rtlCol="0" anchor="t"/>
          <a:lstStyle/>
          <a:p>
            <a:pPr algn="l" indent="0" marL="0">
              <a:lnSpc>
                <a:spcPts val="2750"/>
              </a:lnSpc>
              <a:buNone/>
            </a:pPr>
            <a:r>
              <a:rPr lang="en-US" sz="1750" dirty="0">
                <a:solidFill>
                  <a:srgbClr val="272525"/>
                </a:solidFill>
                <a:latin typeface="Inter" pitchFamily="34" charset="0"/>
                <a:ea typeface="Inter" pitchFamily="34" charset="-122"/>
                <a:cs typeface="Inter" pitchFamily="34" charset="-120"/>
              </a:rPr>
              <a:t>By combining multiple sensor inputs with predictive analytics, the system provides early warnings before conditions reach dangerous levels.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2784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Project Objectives</a:t>
            </a:r>
            <a:endParaRPr lang="en-US" sz="4450" dirty="0"/>
          </a:p>
        </p:txBody>
      </p:sp>
      <p:sp>
        <p:nvSpPr>
          <p:cNvPr id="3" name="Shape 1"/>
          <p:cNvSpPr/>
          <p:nvPr/>
        </p:nvSpPr>
        <p:spPr>
          <a:xfrm>
            <a:off x="793790" y="1990249"/>
            <a:ext cx="6407944" cy="2592348"/>
          </a:xfrm>
          <a:prstGeom prst="roundRect">
            <a:avLst>
              <a:gd name="adj" fmla="val 3675"/>
            </a:avLst>
          </a:prstGeom>
          <a:solidFill>
            <a:srgbClr val="DADBF1"/>
          </a:solidFill>
          <a:ln w="7620">
            <a:solidFill>
              <a:srgbClr val="C0C1D7"/>
            </a:solidFill>
            <a:prstDash val="solid"/>
          </a:ln>
        </p:spPr>
      </p:sp>
      <p:sp>
        <p:nvSpPr>
          <p:cNvPr id="4" name="Shape 2"/>
          <p:cNvSpPr/>
          <p:nvPr/>
        </p:nvSpPr>
        <p:spPr>
          <a:xfrm>
            <a:off x="1028224" y="2224683"/>
            <a:ext cx="680442" cy="680442"/>
          </a:xfrm>
          <a:prstGeom prst="roundRect">
            <a:avLst>
              <a:gd name="adj" fmla="val 13436980"/>
            </a:avLst>
          </a:prstGeom>
          <a:solidFill>
            <a:srgbClr val="4950B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5390" y="2411730"/>
            <a:ext cx="306110" cy="306110"/>
          </a:xfrm>
          <a:prstGeom prst="rect">
            <a:avLst/>
          </a:prstGeom>
        </p:spPr>
      </p:pic>
      <p:sp>
        <p:nvSpPr>
          <p:cNvPr id="6" name="Text 3"/>
          <p:cNvSpPr/>
          <p:nvPr/>
        </p:nvSpPr>
        <p:spPr>
          <a:xfrm>
            <a:off x="1028224" y="3131939"/>
            <a:ext cx="2981563"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Real-Time Monitoring</a:t>
            </a:r>
            <a:endParaRPr lang="en-US" sz="2200" dirty="0"/>
          </a:p>
        </p:txBody>
      </p:sp>
      <p:sp>
        <p:nvSpPr>
          <p:cNvPr id="7" name="Text 4"/>
          <p:cNvSpPr/>
          <p:nvPr/>
        </p:nvSpPr>
        <p:spPr>
          <a:xfrm>
            <a:off x="1028224" y="3622358"/>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Continuous sensing of gas concentration and water presence using calibrated sensors</a:t>
            </a:r>
            <a:endParaRPr lang="en-US" sz="1750" dirty="0"/>
          </a:p>
        </p:txBody>
      </p:sp>
      <p:sp>
        <p:nvSpPr>
          <p:cNvPr id="8" name="Shape 5"/>
          <p:cNvSpPr/>
          <p:nvPr/>
        </p:nvSpPr>
        <p:spPr>
          <a:xfrm>
            <a:off x="7428548" y="1990249"/>
            <a:ext cx="6408063" cy="2592348"/>
          </a:xfrm>
          <a:prstGeom prst="roundRect">
            <a:avLst>
              <a:gd name="adj" fmla="val 3675"/>
            </a:avLst>
          </a:prstGeom>
          <a:solidFill>
            <a:srgbClr val="DADBF1"/>
          </a:solidFill>
          <a:ln w="7620">
            <a:solidFill>
              <a:srgbClr val="C0C1D7"/>
            </a:solidFill>
            <a:prstDash val="solid"/>
          </a:ln>
        </p:spPr>
      </p:sp>
      <p:sp>
        <p:nvSpPr>
          <p:cNvPr id="9" name="Shape 6"/>
          <p:cNvSpPr/>
          <p:nvPr/>
        </p:nvSpPr>
        <p:spPr>
          <a:xfrm>
            <a:off x="7662982" y="2224683"/>
            <a:ext cx="680442" cy="680442"/>
          </a:xfrm>
          <a:prstGeom prst="roundRect">
            <a:avLst>
              <a:gd name="adj" fmla="val 13436980"/>
            </a:avLst>
          </a:prstGeom>
          <a:solidFill>
            <a:srgbClr val="4950BC"/>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50148" y="2411730"/>
            <a:ext cx="306110" cy="306110"/>
          </a:xfrm>
          <a:prstGeom prst="rect">
            <a:avLst/>
          </a:prstGeom>
        </p:spPr>
      </p:pic>
      <p:sp>
        <p:nvSpPr>
          <p:cNvPr id="11" name="Text 7"/>
          <p:cNvSpPr/>
          <p:nvPr/>
        </p:nvSpPr>
        <p:spPr>
          <a:xfrm>
            <a:off x="7662982" y="3131939"/>
            <a:ext cx="3353157"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Intelligent Classification</a:t>
            </a:r>
            <a:endParaRPr lang="en-US" sz="2200" dirty="0"/>
          </a:p>
        </p:txBody>
      </p:sp>
      <p:sp>
        <p:nvSpPr>
          <p:cNvPr id="12" name="Text 8"/>
          <p:cNvSpPr/>
          <p:nvPr/>
        </p:nvSpPr>
        <p:spPr>
          <a:xfrm>
            <a:off x="7662982" y="3622358"/>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Machine learning model to classify conditions into safe, warning, and danger states</a:t>
            </a:r>
            <a:endParaRPr lang="en-US" sz="1750" dirty="0"/>
          </a:p>
        </p:txBody>
      </p:sp>
      <p:sp>
        <p:nvSpPr>
          <p:cNvPr id="13" name="Shape 9"/>
          <p:cNvSpPr/>
          <p:nvPr/>
        </p:nvSpPr>
        <p:spPr>
          <a:xfrm>
            <a:off x="793790" y="4809411"/>
            <a:ext cx="6407944" cy="2592348"/>
          </a:xfrm>
          <a:prstGeom prst="roundRect">
            <a:avLst>
              <a:gd name="adj" fmla="val 3675"/>
            </a:avLst>
          </a:prstGeom>
          <a:solidFill>
            <a:srgbClr val="DADBF1"/>
          </a:solidFill>
          <a:ln w="7620">
            <a:solidFill>
              <a:srgbClr val="C0C1D7"/>
            </a:solidFill>
            <a:prstDash val="solid"/>
          </a:ln>
        </p:spPr>
      </p:sp>
      <p:sp>
        <p:nvSpPr>
          <p:cNvPr id="14" name="Shape 10"/>
          <p:cNvSpPr/>
          <p:nvPr/>
        </p:nvSpPr>
        <p:spPr>
          <a:xfrm>
            <a:off x="1028224" y="5043845"/>
            <a:ext cx="680442" cy="680442"/>
          </a:xfrm>
          <a:prstGeom prst="roundRect">
            <a:avLst>
              <a:gd name="adj" fmla="val 13436980"/>
            </a:avLst>
          </a:prstGeom>
          <a:solidFill>
            <a:srgbClr val="4950BC"/>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5390" y="5230892"/>
            <a:ext cx="306110" cy="306110"/>
          </a:xfrm>
          <a:prstGeom prst="rect">
            <a:avLst/>
          </a:prstGeom>
        </p:spPr>
      </p:pic>
      <p:sp>
        <p:nvSpPr>
          <p:cNvPr id="16" name="Text 11"/>
          <p:cNvSpPr/>
          <p:nvPr/>
        </p:nvSpPr>
        <p:spPr>
          <a:xfrm>
            <a:off x="1028224" y="5951101"/>
            <a:ext cx="349186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Visual and Audible Alerts</a:t>
            </a:r>
            <a:endParaRPr lang="en-US" sz="2200" dirty="0"/>
          </a:p>
        </p:txBody>
      </p:sp>
      <p:sp>
        <p:nvSpPr>
          <p:cNvPr id="17" name="Text 12"/>
          <p:cNvSpPr/>
          <p:nvPr/>
        </p:nvSpPr>
        <p:spPr>
          <a:xfrm>
            <a:off x="1028224" y="6441519"/>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LED indicators and buzzer to provide immediate feedback on detected hazards</a:t>
            </a:r>
            <a:endParaRPr lang="en-US" sz="1750" dirty="0"/>
          </a:p>
        </p:txBody>
      </p:sp>
      <p:sp>
        <p:nvSpPr>
          <p:cNvPr id="18" name="Shape 13"/>
          <p:cNvSpPr/>
          <p:nvPr/>
        </p:nvSpPr>
        <p:spPr>
          <a:xfrm>
            <a:off x="7428548" y="4809411"/>
            <a:ext cx="6408063" cy="2592348"/>
          </a:xfrm>
          <a:prstGeom prst="roundRect">
            <a:avLst>
              <a:gd name="adj" fmla="val 3675"/>
            </a:avLst>
          </a:prstGeom>
          <a:solidFill>
            <a:srgbClr val="DADBF1"/>
          </a:solidFill>
          <a:ln w="7620">
            <a:solidFill>
              <a:srgbClr val="C0C1D7"/>
            </a:solidFill>
            <a:prstDash val="solid"/>
          </a:ln>
        </p:spPr>
      </p:sp>
      <p:sp>
        <p:nvSpPr>
          <p:cNvPr id="19" name="Shape 14"/>
          <p:cNvSpPr/>
          <p:nvPr/>
        </p:nvSpPr>
        <p:spPr>
          <a:xfrm>
            <a:off x="7662982" y="5043845"/>
            <a:ext cx="680442" cy="680442"/>
          </a:xfrm>
          <a:prstGeom prst="roundRect">
            <a:avLst>
              <a:gd name="adj" fmla="val 13436980"/>
            </a:avLst>
          </a:prstGeom>
          <a:solidFill>
            <a:srgbClr val="4950BC"/>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50148" y="5230892"/>
            <a:ext cx="306110" cy="306110"/>
          </a:xfrm>
          <a:prstGeom prst="rect">
            <a:avLst/>
          </a:prstGeom>
        </p:spPr>
      </p:pic>
      <p:sp>
        <p:nvSpPr>
          <p:cNvPr id="21" name="Text 15"/>
          <p:cNvSpPr/>
          <p:nvPr/>
        </p:nvSpPr>
        <p:spPr>
          <a:xfrm>
            <a:off x="7662982" y="5951101"/>
            <a:ext cx="2851428"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Remote Data Access</a:t>
            </a:r>
            <a:endParaRPr lang="en-US" sz="2200" dirty="0"/>
          </a:p>
        </p:txBody>
      </p:sp>
      <p:sp>
        <p:nvSpPr>
          <p:cNvPr id="22" name="Text 16"/>
          <p:cNvSpPr/>
          <p:nvPr/>
        </p:nvSpPr>
        <p:spPr>
          <a:xfrm>
            <a:off x="7662982" y="6441519"/>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ESP8266 enables wireless transmission to local AI server for processing and logging</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38833"/>
            <a:ext cx="5776079"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System Components</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301240"/>
            <a:ext cx="453628" cy="453628"/>
          </a:xfrm>
          <a:prstGeom prst="rect">
            <a:avLst/>
          </a:prstGeom>
        </p:spPr>
      </p:pic>
      <p:sp>
        <p:nvSpPr>
          <p:cNvPr id="4" name="Text 1"/>
          <p:cNvSpPr/>
          <p:nvPr/>
        </p:nvSpPr>
        <p:spPr>
          <a:xfrm>
            <a:off x="1530906" y="2379107"/>
            <a:ext cx="3469958"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ESP8266 Microcontroller</a:t>
            </a:r>
            <a:endParaRPr lang="en-US" sz="2200" dirty="0"/>
          </a:p>
        </p:txBody>
      </p:sp>
      <p:sp>
        <p:nvSpPr>
          <p:cNvPr id="5" name="Text 2"/>
          <p:cNvSpPr/>
          <p:nvPr/>
        </p:nvSpPr>
        <p:spPr>
          <a:xfrm>
            <a:off x="1530906" y="2869525"/>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Wi-Fi enabled processor that reads sensor data and transmits to server</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2301240"/>
            <a:ext cx="453628" cy="453628"/>
          </a:xfrm>
          <a:prstGeom prst="rect">
            <a:avLst/>
          </a:prstGeom>
        </p:spPr>
      </p:pic>
      <p:sp>
        <p:nvSpPr>
          <p:cNvPr id="7" name="Text 3"/>
          <p:cNvSpPr/>
          <p:nvPr/>
        </p:nvSpPr>
        <p:spPr>
          <a:xfrm>
            <a:off x="8194000" y="2379107"/>
            <a:ext cx="3075384"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MQ Series Gas Sensor</a:t>
            </a:r>
            <a:endParaRPr lang="en-US" sz="2200" dirty="0"/>
          </a:p>
        </p:txBody>
      </p:sp>
      <p:sp>
        <p:nvSpPr>
          <p:cNvPr id="8" name="Text 4"/>
          <p:cNvSpPr/>
          <p:nvPr/>
        </p:nvSpPr>
        <p:spPr>
          <a:xfrm>
            <a:off x="8194000" y="2869525"/>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Detects LPG, methane, smoke, and combustible gases through resistance changes</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048958"/>
            <a:ext cx="453628" cy="453628"/>
          </a:xfrm>
          <a:prstGeom prst="rect">
            <a:avLst/>
          </a:prstGeom>
        </p:spPr>
      </p:pic>
      <p:sp>
        <p:nvSpPr>
          <p:cNvPr id="10" name="Text 5"/>
          <p:cNvSpPr/>
          <p:nvPr/>
        </p:nvSpPr>
        <p:spPr>
          <a:xfrm>
            <a:off x="1530906" y="412682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Water Leak Sensor</a:t>
            </a:r>
            <a:endParaRPr lang="en-US" sz="2200" dirty="0"/>
          </a:p>
        </p:txBody>
      </p:sp>
      <p:sp>
        <p:nvSpPr>
          <p:cNvPr id="11" name="Text 6"/>
          <p:cNvSpPr/>
          <p:nvPr/>
        </p:nvSpPr>
        <p:spPr>
          <a:xfrm>
            <a:off x="1530906" y="4617244"/>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Conductivity-based detection of water presence on surfaces</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4048958"/>
            <a:ext cx="453628" cy="453628"/>
          </a:xfrm>
          <a:prstGeom prst="rect">
            <a:avLst/>
          </a:prstGeom>
        </p:spPr>
      </p:pic>
      <p:sp>
        <p:nvSpPr>
          <p:cNvPr id="13" name="Text 7"/>
          <p:cNvSpPr/>
          <p:nvPr/>
        </p:nvSpPr>
        <p:spPr>
          <a:xfrm>
            <a:off x="8194000" y="412682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LED Indicators</a:t>
            </a:r>
            <a:endParaRPr lang="en-US" sz="2200" dirty="0"/>
          </a:p>
        </p:txBody>
      </p:sp>
      <p:sp>
        <p:nvSpPr>
          <p:cNvPr id="14" name="Text 8"/>
          <p:cNvSpPr/>
          <p:nvPr/>
        </p:nvSpPr>
        <p:spPr>
          <a:xfrm>
            <a:off x="8194000" y="4617244"/>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Green LED for safe conditions, red LED for warnings and danger states</a:t>
            </a:r>
            <a:endParaRPr lang="en-US" sz="17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5796677"/>
            <a:ext cx="453628" cy="453628"/>
          </a:xfrm>
          <a:prstGeom prst="rect">
            <a:avLst/>
          </a:prstGeom>
        </p:spPr>
      </p:pic>
      <p:sp>
        <p:nvSpPr>
          <p:cNvPr id="16" name="Text 9"/>
          <p:cNvSpPr/>
          <p:nvPr/>
        </p:nvSpPr>
        <p:spPr>
          <a:xfrm>
            <a:off x="1530906" y="587454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Buzzer Alarm</a:t>
            </a:r>
            <a:endParaRPr lang="en-US" sz="2200" dirty="0"/>
          </a:p>
        </p:txBody>
      </p:sp>
      <p:sp>
        <p:nvSpPr>
          <p:cNvPr id="17" name="Text 10"/>
          <p:cNvSpPr/>
          <p:nvPr/>
        </p:nvSpPr>
        <p:spPr>
          <a:xfrm>
            <a:off x="1530906" y="6364962"/>
            <a:ext cx="564249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Audio alert activated during warning and danger classifications</a:t>
            </a:r>
            <a:endParaRPr lang="en-US" sz="175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56884" y="5796677"/>
            <a:ext cx="453628" cy="453628"/>
          </a:xfrm>
          <a:prstGeom prst="rect">
            <a:avLst/>
          </a:prstGeom>
        </p:spPr>
      </p:pic>
      <p:sp>
        <p:nvSpPr>
          <p:cNvPr id="19" name="Text 11"/>
          <p:cNvSpPr/>
          <p:nvPr/>
        </p:nvSpPr>
        <p:spPr>
          <a:xfrm>
            <a:off x="8194000" y="587454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Local AI Server</a:t>
            </a:r>
            <a:endParaRPr lang="en-US" sz="2200" dirty="0"/>
          </a:p>
        </p:txBody>
      </p:sp>
      <p:sp>
        <p:nvSpPr>
          <p:cNvPr id="20" name="Text 12"/>
          <p:cNvSpPr/>
          <p:nvPr/>
        </p:nvSpPr>
        <p:spPr>
          <a:xfrm>
            <a:off x="8194000" y="6364962"/>
            <a:ext cx="5642610"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Flask-based server running machine learning model for classification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6992" y="1358503"/>
            <a:ext cx="6790373" cy="622340"/>
          </a:xfrm>
          <a:prstGeom prst="rect">
            <a:avLst/>
          </a:prstGeom>
          <a:noFill/>
          <a:ln/>
        </p:spPr>
        <p:txBody>
          <a:bodyPr wrap="none" lIns="0" tIns="0" rIns="0" bIns="0" rtlCol="0" anchor="t"/>
          <a:lstStyle/>
          <a:p>
            <a:pPr algn="l" indent="0" marL="0">
              <a:lnSpc>
                <a:spcPts val="4900"/>
              </a:lnSpc>
              <a:buNone/>
            </a:pPr>
            <a:r>
              <a:rPr lang="en-US" sz="3900" b="1" dirty="0">
                <a:solidFill>
                  <a:srgbClr val="000000"/>
                </a:solidFill>
                <a:latin typeface="Inter Bold" pitchFamily="34" charset="0"/>
                <a:ea typeface="Inter Bold" pitchFamily="34" charset="-122"/>
                <a:cs typeface="Inter Bold" pitchFamily="34" charset="-120"/>
              </a:rPr>
              <a:t>Sensor Operation Principles</a:t>
            </a:r>
            <a:endParaRPr lang="en-US" sz="3900" dirty="0"/>
          </a:p>
        </p:txBody>
      </p:sp>
      <p:sp>
        <p:nvSpPr>
          <p:cNvPr id="4" name="Text 1"/>
          <p:cNvSpPr/>
          <p:nvPr/>
        </p:nvSpPr>
        <p:spPr>
          <a:xfrm>
            <a:off x="696992" y="2417921"/>
            <a:ext cx="2987397" cy="373380"/>
          </a:xfrm>
          <a:prstGeom prst="rect">
            <a:avLst/>
          </a:prstGeom>
          <a:noFill/>
          <a:ln/>
        </p:spPr>
        <p:txBody>
          <a:bodyPr wrap="none" lIns="0" tIns="0" rIns="0" bIns="0" rtlCol="0" anchor="t"/>
          <a:lstStyle/>
          <a:p>
            <a:pPr algn="l" indent="0" marL="0">
              <a:lnSpc>
                <a:spcPts val="2900"/>
              </a:lnSpc>
              <a:buNone/>
            </a:pPr>
            <a:r>
              <a:rPr lang="en-US" sz="2350" b="1" dirty="0">
                <a:solidFill>
                  <a:srgbClr val="000000"/>
                </a:solidFill>
                <a:latin typeface="Inter Bold" pitchFamily="34" charset="0"/>
                <a:ea typeface="Inter Bold" pitchFamily="34" charset="-122"/>
                <a:cs typeface="Inter Bold" pitchFamily="34" charset="-120"/>
              </a:rPr>
              <a:t>MQ Gas Sensor</a:t>
            </a:r>
            <a:endParaRPr lang="en-US" sz="2350" dirty="0"/>
          </a:p>
        </p:txBody>
      </p:sp>
      <p:sp>
        <p:nvSpPr>
          <p:cNvPr id="5" name="Text 2"/>
          <p:cNvSpPr/>
          <p:nvPr/>
        </p:nvSpPr>
        <p:spPr>
          <a:xfrm>
            <a:off x="696992" y="2966085"/>
            <a:ext cx="3632121" cy="2094428"/>
          </a:xfrm>
          <a:prstGeom prst="rect">
            <a:avLst/>
          </a:prstGeom>
          <a:noFill/>
          <a:ln/>
        </p:spPr>
        <p:txBody>
          <a:bodyPr wrap="square" lIns="0" tIns="0" rIns="0" bIns="0" rtlCol="0" anchor="t"/>
          <a:lstStyle/>
          <a:p>
            <a:pPr algn="l" indent="0" marL="0">
              <a:lnSpc>
                <a:spcPts val="2350"/>
              </a:lnSpc>
              <a:buNone/>
            </a:pPr>
            <a:r>
              <a:rPr lang="en-US" sz="1550" dirty="0">
                <a:solidFill>
                  <a:srgbClr val="272525"/>
                </a:solidFill>
                <a:latin typeface="Inter" pitchFamily="34" charset="0"/>
                <a:ea typeface="Inter" pitchFamily="34" charset="-122"/>
                <a:cs typeface="Inter" pitchFamily="34" charset="-120"/>
              </a:rPr>
              <a:t>MQ series sensors utilise tin dioxide (SnO₂) semiconductor material whose resistance decreases when exposed to reducing gases. The sensor heats to 200-300°C, causing oxygen ions on the surface to react with gas molecules.</a:t>
            </a:r>
            <a:endParaRPr lang="en-US" sz="1550" dirty="0"/>
          </a:p>
        </p:txBody>
      </p:sp>
      <p:sp>
        <p:nvSpPr>
          <p:cNvPr id="6" name="Text 3"/>
          <p:cNvSpPr/>
          <p:nvPr/>
        </p:nvSpPr>
        <p:spPr>
          <a:xfrm>
            <a:off x="696992" y="5217795"/>
            <a:ext cx="3632121" cy="1496020"/>
          </a:xfrm>
          <a:prstGeom prst="rect">
            <a:avLst/>
          </a:prstGeom>
          <a:noFill/>
          <a:ln/>
        </p:spPr>
        <p:txBody>
          <a:bodyPr wrap="square" lIns="0" tIns="0" rIns="0" bIns="0" rtlCol="0" anchor="t"/>
          <a:lstStyle/>
          <a:p>
            <a:pPr algn="l" indent="0" marL="0">
              <a:lnSpc>
                <a:spcPts val="2350"/>
              </a:lnSpc>
              <a:buNone/>
            </a:pPr>
            <a:r>
              <a:rPr lang="en-US" sz="1550" dirty="0">
                <a:solidFill>
                  <a:srgbClr val="272525"/>
                </a:solidFill>
                <a:latin typeface="Inter" pitchFamily="34" charset="0"/>
                <a:ea typeface="Inter" pitchFamily="34" charset="-122"/>
                <a:cs typeface="Inter" pitchFamily="34" charset="-120"/>
              </a:rPr>
              <a:t>Output voltage proportional to gas concentration is read through analogue pin A0. Calibration accounts for temperature and humidity variations.</a:t>
            </a:r>
            <a:endParaRPr lang="en-US" sz="1550" dirty="0"/>
          </a:p>
        </p:txBody>
      </p:sp>
      <p:sp>
        <p:nvSpPr>
          <p:cNvPr id="7" name="Text 4"/>
          <p:cNvSpPr/>
          <p:nvPr/>
        </p:nvSpPr>
        <p:spPr>
          <a:xfrm>
            <a:off x="4822508" y="2417921"/>
            <a:ext cx="2987397" cy="373380"/>
          </a:xfrm>
          <a:prstGeom prst="rect">
            <a:avLst/>
          </a:prstGeom>
          <a:noFill/>
          <a:ln/>
        </p:spPr>
        <p:txBody>
          <a:bodyPr wrap="none" lIns="0" tIns="0" rIns="0" bIns="0" rtlCol="0" anchor="t"/>
          <a:lstStyle/>
          <a:p>
            <a:pPr algn="l" indent="0" marL="0">
              <a:lnSpc>
                <a:spcPts val="2900"/>
              </a:lnSpc>
              <a:buNone/>
            </a:pPr>
            <a:r>
              <a:rPr lang="en-US" sz="2350" b="1" dirty="0">
                <a:solidFill>
                  <a:srgbClr val="000000"/>
                </a:solidFill>
                <a:latin typeface="Inter Bold" pitchFamily="34" charset="0"/>
                <a:ea typeface="Inter Bold" pitchFamily="34" charset="-122"/>
                <a:cs typeface="Inter Bold" pitchFamily="34" charset="-120"/>
              </a:rPr>
              <a:t>Water Leak Sensor</a:t>
            </a:r>
            <a:endParaRPr lang="en-US" sz="2350" dirty="0"/>
          </a:p>
        </p:txBody>
      </p:sp>
      <p:sp>
        <p:nvSpPr>
          <p:cNvPr id="8" name="Text 5"/>
          <p:cNvSpPr/>
          <p:nvPr/>
        </p:nvSpPr>
        <p:spPr>
          <a:xfrm>
            <a:off x="4822508" y="2966085"/>
            <a:ext cx="3632121" cy="1496020"/>
          </a:xfrm>
          <a:prstGeom prst="rect">
            <a:avLst/>
          </a:prstGeom>
          <a:noFill/>
          <a:ln/>
        </p:spPr>
        <p:txBody>
          <a:bodyPr wrap="square" lIns="0" tIns="0" rIns="0" bIns="0" rtlCol="0" anchor="t"/>
          <a:lstStyle/>
          <a:p>
            <a:pPr algn="l" indent="0" marL="0">
              <a:lnSpc>
                <a:spcPts val="2350"/>
              </a:lnSpc>
              <a:buNone/>
            </a:pPr>
            <a:r>
              <a:rPr lang="en-US" sz="1550" dirty="0">
                <a:solidFill>
                  <a:srgbClr val="272525"/>
                </a:solidFill>
                <a:latin typeface="Inter" pitchFamily="34" charset="0"/>
                <a:ea typeface="Inter" pitchFamily="34" charset="-122"/>
                <a:cs typeface="Inter" pitchFamily="34" charset="-120"/>
              </a:rPr>
              <a:t>Digital sensor detects water presence through conductivity between exposed copper traces. When water bridges the contacts, circuit resistance drops significantly.</a:t>
            </a:r>
            <a:endParaRPr lang="en-US" sz="1550" dirty="0"/>
          </a:p>
        </p:txBody>
      </p:sp>
      <p:sp>
        <p:nvSpPr>
          <p:cNvPr id="9" name="Text 6"/>
          <p:cNvSpPr/>
          <p:nvPr/>
        </p:nvSpPr>
        <p:spPr>
          <a:xfrm>
            <a:off x="4822508" y="4619387"/>
            <a:ext cx="3632121" cy="1496020"/>
          </a:xfrm>
          <a:prstGeom prst="rect">
            <a:avLst/>
          </a:prstGeom>
          <a:noFill/>
          <a:ln/>
        </p:spPr>
        <p:txBody>
          <a:bodyPr wrap="square" lIns="0" tIns="0" rIns="0" bIns="0" rtlCol="0" anchor="t"/>
          <a:lstStyle/>
          <a:p>
            <a:pPr algn="l" indent="0" marL="0">
              <a:lnSpc>
                <a:spcPts val="2350"/>
              </a:lnSpc>
              <a:buNone/>
            </a:pPr>
            <a:r>
              <a:rPr lang="en-US" sz="1550" dirty="0">
                <a:solidFill>
                  <a:srgbClr val="272525"/>
                </a:solidFill>
                <a:latin typeface="Inter" pitchFamily="34" charset="0"/>
                <a:ea typeface="Inter" pitchFamily="34" charset="-122"/>
                <a:cs typeface="Inter" pitchFamily="34" charset="-120"/>
              </a:rPr>
              <a:t>Logic high output sent through digital pin D5 triggers immediate processing. Sensor requires regular cleaning to prevent false readings from debris accumulation.</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78324" y="827961"/>
            <a:ext cx="4664393" cy="583049"/>
          </a:xfrm>
          <a:prstGeom prst="rect">
            <a:avLst/>
          </a:prstGeom>
          <a:noFill/>
          <a:ln/>
        </p:spPr>
        <p:txBody>
          <a:bodyPr wrap="none" lIns="0" tIns="0" rIns="0" bIns="0" rtlCol="0" anchor="t"/>
          <a:lstStyle/>
          <a:p>
            <a:pPr algn="l" indent="0" marL="0">
              <a:lnSpc>
                <a:spcPts val="4550"/>
              </a:lnSpc>
              <a:buNone/>
            </a:pPr>
            <a:r>
              <a:rPr lang="en-US" sz="3650" b="1" dirty="0">
                <a:solidFill>
                  <a:srgbClr val="000000"/>
                </a:solidFill>
                <a:latin typeface="Inter Bold" pitchFamily="34" charset="0"/>
                <a:ea typeface="Inter Bold" pitchFamily="34" charset="-122"/>
                <a:cs typeface="Inter Bold" pitchFamily="34" charset="-120"/>
              </a:rPr>
              <a:t>Circuit Connections</a:t>
            </a:r>
            <a:endParaRPr lang="en-US" sz="3650" dirty="0"/>
          </a:p>
        </p:txBody>
      </p:sp>
      <p:sp>
        <p:nvSpPr>
          <p:cNvPr id="3" name="Shape 1"/>
          <p:cNvSpPr/>
          <p:nvPr/>
        </p:nvSpPr>
        <p:spPr>
          <a:xfrm>
            <a:off x="878324" y="1997631"/>
            <a:ext cx="6360081" cy="1603177"/>
          </a:xfrm>
          <a:prstGeom prst="roundRect">
            <a:avLst>
              <a:gd name="adj" fmla="val 6844"/>
            </a:avLst>
          </a:prstGeom>
          <a:solidFill>
            <a:srgbClr val="FFFFFF"/>
          </a:solidFill>
          <a:ln/>
        </p:spPr>
      </p:sp>
      <p:sp>
        <p:nvSpPr>
          <p:cNvPr id="4" name="Shape 2"/>
          <p:cNvSpPr/>
          <p:nvPr/>
        </p:nvSpPr>
        <p:spPr>
          <a:xfrm>
            <a:off x="878324" y="1974771"/>
            <a:ext cx="6360081" cy="91440"/>
          </a:xfrm>
          <a:prstGeom prst="roundRect">
            <a:avLst>
              <a:gd name="adj" fmla="val 85698"/>
            </a:avLst>
          </a:prstGeom>
          <a:solidFill>
            <a:srgbClr val="4950BC"/>
          </a:solidFill>
          <a:ln/>
        </p:spPr>
      </p:sp>
      <p:sp>
        <p:nvSpPr>
          <p:cNvPr id="5" name="Shape 3"/>
          <p:cNvSpPr/>
          <p:nvPr/>
        </p:nvSpPr>
        <p:spPr>
          <a:xfrm>
            <a:off x="3778508" y="1717834"/>
            <a:ext cx="559713" cy="559713"/>
          </a:xfrm>
          <a:prstGeom prst="roundRect">
            <a:avLst>
              <a:gd name="adj" fmla="val 163369"/>
            </a:avLst>
          </a:prstGeom>
          <a:solidFill>
            <a:srgbClr val="4950BC"/>
          </a:solidFill>
          <a:ln/>
        </p:spPr>
      </p:sp>
      <p:sp>
        <p:nvSpPr>
          <p:cNvPr id="6" name="Text 4"/>
          <p:cNvSpPr/>
          <p:nvPr/>
        </p:nvSpPr>
        <p:spPr>
          <a:xfrm>
            <a:off x="3946386" y="1857732"/>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1</a:t>
            </a:r>
            <a:endParaRPr lang="en-US" sz="1750" dirty="0"/>
          </a:p>
        </p:txBody>
      </p:sp>
      <p:sp>
        <p:nvSpPr>
          <p:cNvPr id="7" name="Text 5"/>
          <p:cNvSpPr/>
          <p:nvPr/>
        </p:nvSpPr>
        <p:spPr>
          <a:xfrm>
            <a:off x="1087755" y="2463998"/>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Gas Sensor → A0</a:t>
            </a:r>
            <a:endParaRPr lang="en-US" sz="1800" dirty="0"/>
          </a:p>
        </p:txBody>
      </p:sp>
      <p:sp>
        <p:nvSpPr>
          <p:cNvPr id="8" name="Text 6"/>
          <p:cNvSpPr/>
          <p:nvPr/>
        </p:nvSpPr>
        <p:spPr>
          <a:xfrm>
            <a:off x="1087755" y="2847499"/>
            <a:ext cx="5941219" cy="543878"/>
          </a:xfrm>
          <a:prstGeom prst="rect">
            <a:avLst/>
          </a:prstGeom>
          <a:noFill/>
          <a:ln/>
        </p:spPr>
        <p:txBody>
          <a:bodyPr wrap="squar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Analogue pin reads voltage from MQ sensor, converting gas concentration to 0-1023 digital value</a:t>
            </a:r>
            <a:endParaRPr lang="en-US" sz="1450" dirty="0"/>
          </a:p>
        </p:txBody>
      </p:sp>
      <p:sp>
        <p:nvSpPr>
          <p:cNvPr id="9" name="Shape 7"/>
          <p:cNvSpPr/>
          <p:nvPr/>
        </p:nvSpPr>
        <p:spPr>
          <a:xfrm>
            <a:off x="7391757" y="1997631"/>
            <a:ext cx="6360200" cy="1603177"/>
          </a:xfrm>
          <a:prstGeom prst="roundRect">
            <a:avLst>
              <a:gd name="adj" fmla="val 6844"/>
            </a:avLst>
          </a:prstGeom>
          <a:solidFill>
            <a:srgbClr val="FFFFFF"/>
          </a:solidFill>
          <a:ln/>
        </p:spPr>
      </p:sp>
      <p:sp>
        <p:nvSpPr>
          <p:cNvPr id="10" name="Shape 8"/>
          <p:cNvSpPr/>
          <p:nvPr/>
        </p:nvSpPr>
        <p:spPr>
          <a:xfrm>
            <a:off x="7391757" y="1974771"/>
            <a:ext cx="6360200" cy="91440"/>
          </a:xfrm>
          <a:prstGeom prst="roundRect">
            <a:avLst>
              <a:gd name="adj" fmla="val 85698"/>
            </a:avLst>
          </a:prstGeom>
          <a:solidFill>
            <a:srgbClr val="4950BC"/>
          </a:solidFill>
          <a:ln/>
        </p:spPr>
      </p:sp>
      <p:sp>
        <p:nvSpPr>
          <p:cNvPr id="11" name="Shape 9"/>
          <p:cNvSpPr/>
          <p:nvPr/>
        </p:nvSpPr>
        <p:spPr>
          <a:xfrm>
            <a:off x="10291941" y="1717834"/>
            <a:ext cx="559713" cy="559713"/>
          </a:xfrm>
          <a:prstGeom prst="roundRect">
            <a:avLst>
              <a:gd name="adj" fmla="val 163369"/>
            </a:avLst>
          </a:prstGeom>
          <a:solidFill>
            <a:srgbClr val="4950BC"/>
          </a:solidFill>
          <a:ln/>
        </p:spPr>
      </p:sp>
      <p:sp>
        <p:nvSpPr>
          <p:cNvPr id="12" name="Text 10"/>
          <p:cNvSpPr/>
          <p:nvPr/>
        </p:nvSpPr>
        <p:spPr>
          <a:xfrm>
            <a:off x="10459819" y="1857732"/>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2</a:t>
            </a:r>
            <a:endParaRPr lang="en-US" sz="1750" dirty="0"/>
          </a:p>
        </p:txBody>
      </p:sp>
      <p:sp>
        <p:nvSpPr>
          <p:cNvPr id="13" name="Text 11"/>
          <p:cNvSpPr/>
          <p:nvPr/>
        </p:nvSpPr>
        <p:spPr>
          <a:xfrm>
            <a:off x="7601188" y="2463998"/>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Water Sensor → D5</a:t>
            </a:r>
            <a:endParaRPr lang="en-US" sz="1800" dirty="0"/>
          </a:p>
        </p:txBody>
      </p:sp>
      <p:sp>
        <p:nvSpPr>
          <p:cNvPr id="14" name="Text 12"/>
          <p:cNvSpPr/>
          <p:nvPr/>
        </p:nvSpPr>
        <p:spPr>
          <a:xfrm>
            <a:off x="7601188" y="2847499"/>
            <a:ext cx="5941338" cy="543878"/>
          </a:xfrm>
          <a:prstGeom prst="rect">
            <a:avLst/>
          </a:prstGeom>
          <a:noFill/>
          <a:ln/>
        </p:spPr>
        <p:txBody>
          <a:bodyPr wrap="squar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Digital pin receives binary signal indicating water presence or absence</a:t>
            </a:r>
            <a:endParaRPr lang="en-US" sz="1450" dirty="0"/>
          </a:p>
        </p:txBody>
      </p:sp>
      <p:sp>
        <p:nvSpPr>
          <p:cNvPr id="15" name="Shape 13"/>
          <p:cNvSpPr/>
          <p:nvPr/>
        </p:nvSpPr>
        <p:spPr>
          <a:xfrm>
            <a:off x="878324" y="4033957"/>
            <a:ext cx="6360081" cy="1331238"/>
          </a:xfrm>
          <a:prstGeom prst="roundRect">
            <a:avLst>
              <a:gd name="adj" fmla="val 8243"/>
            </a:avLst>
          </a:prstGeom>
          <a:solidFill>
            <a:srgbClr val="FFFFFF"/>
          </a:solidFill>
          <a:ln/>
        </p:spPr>
      </p:sp>
      <p:sp>
        <p:nvSpPr>
          <p:cNvPr id="16" name="Shape 14"/>
          <p:cNvSpPr/>
          <p:nvPr/>
        </p:nvSpPr>
        <p:spPr>
          <a:xfrm>
            <a:off x="878324" y="4011097"/>
            <a:ext cx="6360081" cy="91440"/>
          </a:xfrm>
          <a:prstGeom prst="roundRect">
            <a:avLst>
              <a:gd name="adj" fmla="val 85698"/>
            </a:avLst>
          </a:prstGeom>
          <a:solidFill>
            <a:srgbClr val="4950BC"/>
          </a:solidFill>
          <a:ln/>
        </p:spPr>
      </p:sp>
      <p:sp>
        <p:nvSpPr>
          <p:cNvPr id="17" name="Shape 15"/>
          <p:cNvSpPr/>
          <p:nvPr/>
        </p:nvSpPr>
        <p:spPr>
          <a:xfrm>
            <a:off x="3778508" y="3754160"/>
            <a:ext cx="559713" cy="559713"/>
          </a:xfrm>
          <a:prstGeom prst="roundRect">
            <a:avLst>
              <a:gd name="adj" fmla="val 163369"/>
            </a:avLst>
          </a:prstGeom>
          <a:solidFill>
            <a:srgbClr val="4950BC"/>
          </a:solidFill>
          <a:ln/>
        </p:spPr>
      </p:sp>
      <p:sp>
        <p:nvSpPr>
          <p:cNvPr id="18" name="Text 16"/>
          <p:cNvSpPr/>
          <p:nvPr/>
        </p:nvSpPr>
        <p:spPr>
          <a:xfrm>
            <a:off x="3946386" y="3894058"/>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3</a:t>
            </a:r>
            <a:endParaRPr lang="en-US" sz="1750" dirty="0"/>
          </a:p>
        </p:txBody>
      </p:sp>
      <p:sp>
        <p:nvSpPr>
          <p:cNvPr id="19" name="Text 17"/>
          <p:cNvSpPr/>
          <p:nvPr/>
        </p:nvSpPr>
        <p:spPr>
          <a:xfrm>
            <a:off x="1087755" y="4500324"/>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Green LED → D6</a:t>
            </a:r>
            <a:endParaRPr lang="en-US" sz="1800" dirty="0"/>
          </a:p>
        </p:txBody>
      </p:sp>
      <p:sp>
        <p:nvSpPr>
          <p:cNvPr id="20" name="Text 18"/>
          <p:cNvSpPr/>
          <p:nvPr/>
        </p:nvSpPr>
        <p:spPr>
          <a:xfrm>
            <a:off x="1087755" y="4883825"/>
            <a:ext cx="5941219" cy="271939"/>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GPIO pin drives green LED when system detects safe conditions</a:t>
            </a:r>
            <a:endParaRPr lang="en-US" sz="1450" dirty="0"/>
          </a:p>
        </p:txBody>
      </p:sp>
      <p:sp>
        <p:nvSpPr>
          <p:cNvPr id="21" name="Shape 19"/>
          <p:cNvSpPr/>
          <p:nvPr/>
        </p:nvSpPr>
        <p:spPr>
          <a:xfrm>
            <a:off x="7391757" y="4033957"/>
            <a:ext cx="6360200" cy="1331238"/>
          </a:xfrm>
          <a:prstGeom prst="roundRect">
            <a:avLst>
              <a:gd name="adj" fmla="val 8243"/>
            </a:avLst>
          </a:prstGeom>
          <a:solidFill>
            <a:srgbClr val="FFFFFF"/>
          </a:solidFill>
          <a:ln/>
        </p:spPr>
      </p:sp>
      <p:sp>
        <p:nvSpPr>
          <p:cNvPr id="22" name="Shape 20"/>
          <p:cNvSpPr/>
          <p:nvPr/>
        </p:nvSpPr>
        <p:spPr>
          <a:xfrm>
            <a:off x="7391757" y="4011097"/>
            <a:ext cx="6360200" cy="91440"/>
          </a:xfrm>
          <a:prstGeom prst="roundRect">
            <a:avLst>
              <a:gd name="adj" fmla="val 85698"/>
            </a:avLst>
          </a:prstGeom>
          <a:solidFill>
            <a:srgbClr val="4950BC"/>
          </a:solidFill>
          <a:ln/>
        </p:spPr>
      </p:sp>
      <p:sp>
        <p:nvSpPr>
          <p:cNvPr id="23" name="Shape 21"/>
          <p:cNvSpPr/>
          <p:nvPr/>
        </p:nvSpPr>
        <p:spPr>
          <a:xfrm>
            <a:off x="10291941" y="3754160"/>
            <a:ext cx="559713" cy="559713"/>
          </a:xfrm>
          <a:prstGeom prst="roundRect">
            <a:avLst>
              <a:gd name="adj" fmla="val 163369"/>
            </a:avLst>
          </a:prstGeom>
          <a:solidFill>
            <a:srgbClr val="4950BC"/>
          </a:solidFill>
          <a:ln/>
        </p:spPr>
      </p:sp>
      <p:sp>
        <p:nvSpPr>
          <p:cNvPr id="24" name="Text 22"/>
          <p:cNvSpPr/>
          <p:nvPr/>
        </p:nvSpPr>
        <p:spPr>
          <a:xfrm>
            <a:off x="10459819" y="3894058"/>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4</a:t>
            </a:r>
            <a:endParaRPr lang="en-US" sz="1750" dirty="0"/>
          </a:p>
        </p:txBody>
      </p:sp>
      <p:sp>
        <p:nvSpPr>
          <p:cNvPr id="25" name="Text 23"/>
          <p:cNvSpPr/>
          <p:nvPr/>
        </p:nvSpPr>
        <p:spPr>
          <a:xfrm>
            <a:off x="7601188" y="4500324"/>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Red LED → D7</a:t>
            </a:r>
            <a:endParaRPr lang="en-US" sz="1800" dirty="0"/>
          </a:p>
        </p:txBody>
      </p:sp>
      <p:sp>
        <p:nvSpPr>
          <p:cNvPr id="26" name="Text 24"/>
          <p:cNvSpPr/>
          <p:nvPr/>
        </p:nvSpPr>
        <p:spPr>
          <a:xfrm>
            <a:off x="7601188" y="4883825"/>
            <a:ext cx="5941338" cy="271939"/>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GPIO pin activates red LED during warning or danger states</a:t>
            </a:r>
            <a:endParaRPr lang="en-US" sz="1450" dirty="0"/>
          </a:p>
        </p:txBody>
      </p:sp>
      <p:sp>
        <p:nvSpPr>
          <p:cNvPr id="27" name="Shape 25"/>
          <p:cNvSpPr/>
          <p:nvPr/>
        </p:nvSpPr>
        <p:spPr>
          <a:xfrm>
            <a:off x="878324" y="5798344"/>
            <a:ext cx="6360081" cy="1603177"/>
          </a:xfrm>
          <a:prstGeom prst="roundRect">
            <a:avLst>
              <a:gd name="adj" fmla="val 6844"/>
            </a:avLst>
          </a:prstGeom>
          <a:solidFill>
            <a:srgbClr val="FFFFFF"/>
          </a:solidFill>
          <a:ln/>
        </p:spPr>
      </p:sp>
      <p:sp>
        <p:nvSpPr>
          <p:cNvPr id="28" name="Shape 26"/>
          <p:cNvSpPr/>
          <p:nvPr/>
        </p:nvSpPr>
        <p:spPr>
          <a:xfrm>
            <a:off x="878324" y="5775484"/>
            <a:ext cx="6360081" cy="91440"/>
          </a:xfrm>
          <a:prstGeom prst="roundRect">
            <a:avLst>
              <a:gd name="adj" fmla="val 85698"/>
            </a:avLst>
          </a:prstGeom>
          <a:solidFill>
            <a:srgbClr val="4950BC"/>
          </a:solidFill>
          <a:ln/>
        </p:spPr>
      </p:sp>
      <p:sp>
        <p:nvSpPr>
          <p:cNvPr id="29" name="Shape 27"/>
          <p:cNvSpPr/>
          <p:nvPr/>
        </p:nvSpPr>
        <p:spPr>
          <a:xfrm>
            <a:off x="3778508" y="5518547"/>
            <a:ext cx="559713" cy="559713"/>
          </a:xfrm>
          <a:prstGeom prst="roundRect">
            <a:avLst>
              <a:gd name="adj" fmla="val 163369"/>
            </a:avLst>
          </a:prstGeom>
          <a:solidFill>
            <a:srgbClr val="4950BC"/>
          </a:solidFill>
          <a:ln/>
        </p:spPr>
      </p:sp>
      <p:sp>
        <p:nvSpPr>
          <p:cNvPr id="30" name="Text 28"/>
          <p:cNvSpPr/>
          <p:nvPr/>
        </p:nvSpPr>
        <p:spPr>
          <a:xfrm>
            <a:off x="3946386" y="5658445"/>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5</a:t>
            </a:r>
            <a:endParaRPr lang="en-US" sz="1750" dirty="0"/>
          </a:p>
        </p:txBody>
      </p:sp>
      <p:sp>
        <p:nvSpPr>
          <p:cNvPr id="31" name="Text 29"/>
          <p:cNvSpPr/>
          <p:nvPr/>
        </p:nvSpPr>
        <p:spPr>
          <a:xfrm>
            <a:off x="1087755" y="6264712"/>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Buzzer → D8</a:t>
            </a:r>
            <a:endParaRPr lang="en-US" sz="1800" dirty="0"/>
          </a:p>
        </p:txBody>
      </p:sp>
      <p:sp>
        <p:nvSpPr>
          <p:cNvPr id="32" name="Text 30"/>
          <p:cNvSpPr/>
          <p:nvPr/>
        </p:nvSpPr>
        <p:spPr>
          <a:xfrm>
            <a:off x="1087755" y="6648212"/>
            <a:ext cx="5941219" cy="271939"/>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Digital output triggers audible alarm during elevated hazard levels</a:t>
            </a:r>
            <a:endParaRPr lang="en-US" sz="1450" dirty="0"/>
          </a:p>
        </p:txBody>
      </p:sp>
      <p:sp>
        <p:nvSpPr>
          <p:cNvPr id="33" name="Shape 31"/>
          <p:cNvSpPr/>
          <p:nvPr/>
        </p:nvSpPr>
        <p:spPr>
          <a:xfrm>
            <a:off x="7391757" y="5798344"/>
            <a:ext cx="6360200" cy="1603177"/>
          </a:xfrm>
          <a:prstGeom prst="roundRect">
            <a:avLst>
              <a:gd name="adj" fmla="val 6844"/>
            </a:avLst>
          </a:prstGeom>
          <a:solidFill>
            <a:srgbClr val="FFFFFF"/>
          </a:solidFill>
          <a:ln/>
        </p:spPr>
      </p:sp>
      <p:sp>
        <p:nvSpPr>
          <p:cNvPr id="34" name="Shape 32"/>
          <p:cNvSpPr/>
          <p:nvPr/>
        </p:nvSpPr>
        <p:spPr>
          <a:xfrm>
            <a:off x="7391757" y="5775484"/>
            <a:ext cx="6360200" cy="91440"/>
          </a:xfrm>
          <a:prstGeom prst="roundRect">
            <a:avLst>
              <a:gd name="adj" fmla="val 85698"/>
            </a:avLst>
          </a:prstGeom>
          <a:solidFill>
            <a:srgbClr val="4950BC"/>
          </a:solidFill>
          <a:ln/>
        </p:spPr>
      </p:sp>
      <p:sp>
        <p:nvSpPr>
          <p:cNvPr id="35" name="Shape 33"/>
          <p:cNvSpPr/>
          <p:nvPr/>
        </p:nvSpPr>
        <p:spPr>
          <a:xfrm>
            <a:off x="10291941" y="5518547"/>
            <a:ext cx="559713" cy="559713"/>
          </a:xfrm>
          <a:prstGeom prst="roundRect">
            <a:avLst>
              <a:gd name="adj" fmla="val 163369"/>
            </a:avLst>
          </a:prstGeom>
          <a:solidFill>
            <a:srgbClr val="4950BC"/>
          </a:solidFill>
          <a:ln/>
        </p:spPr>
      </p:sp>
      <p:sp>
        <p:nvSpPr>
          <p:cNvPr id="36" name="Text 34"/>
          <p:cNvSpPr/>
          <p:nvPr/>
        </p:nvSpPr>
        <p:spPr>
          <a:xfrm>
            <a:off x="10459819" y="5658445"/>
            <a:ext cx="223838" cy="279797"/>
          </a:xfrm>
          <a:prstGeom prst="rect">
            <a:avLst/>
          </a:prstGeom>
          <a:noFill/>
          <a:ln/>
        </p:spPr>
        <p:txBody>
          <a:bodyPr wrap="none" lIns="0" tIns="0" rIns="0" bIns="0" rtlCol="0" anchor="t"/>
          <a:lstStyle/>
          <a:p>
            <a:pPr algn="l" indent="0" marL="0">
              <a:lnSpc>
                <a:spcPts val="2550"/>
              </a:lnSpc>
              <a:buNone/>
            </a:pPr>
            <a:r>
              <a:rPr lang="en-US" sz="1750" b="1" dirty="0">
                <a:solidFill>
                  <a:srgbClr val="FFFFFF"/>
                </a:solidFill>
                <a:latin typeface="Inter Bold" pitchFamily="34" charset="0"/>
                <a:ea typeface="Inter Bold" pitchFamily="34" charset="-122"/>
                <a:cs typeface="Inter Bold" pitchFamily="34" charset="-120"/>
              </a:rPr>
              <a:t>6</a:t>
            </a:r>
            <a:endParaRPr lang="en-US" sz="1750" dirty="0"/>
          </a:p>
        </p:txBody>
      </p:sp>
      <p:sp>
        <p:nvSpPr>
          <p:cNvPr id="37" name="Text 35"/>
          <p:cNvSpPr/>
          <p:nvPr/>
        </p:nvSpPr>
        <p:spPr>
          <a:xfrm>
            <a:off x="7601188" y="6264712"/>
            <a:ext cx="2332196" cy="291465"/>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Common Ground</a:t>
            </a:r>
            <a:endParaRPr lang="en-US" sz="1800" dirty="0"/>
          </a:p>
        </p:txBody>
      </p:sp>
      <p:sp>
        <p:nvSpPr>
          <p:cNvPr id="38" name="Text 36"/>
          <p:cNvSpPr/>
          <p:nvPr/>
        </p:nvSpPr>
        <p:spPr>
          <a:xfrm>
            <a:off x="7601188" y="6648212"/>
            <a:ext cx="5941338" cy="543878"/>
          </a:xfrm>
          <a:prstGeom prst="rect">
            <a:avLst/>
          </a:prstGeom>
          <a:noFill/>
          <a:ln/>
        </p:spPr>
        <p:txBody>
          <a:bodyPr wrap="squar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All components share ground connection to ESP8266 for consistent reference voltage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95563"/>
            <a:ext cx="6692979"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Why Machine Learning?</a:t>
            </a:r>
            <a:endParaRPr lang="en-US" sz="4450" dirty="0"/>
          </a:p>
        </p:txBody>
      </p:sp>
      <p:pic>
        <p:nvPicPr>
          <p:cNvPr id="4" name="Image 1" descr="preencoded.png">    </p:cNvPr>
          <p:cNvPicPr>
            <a:picLocks noChangeAspect="1"/>
          </p:cNvPicPr>
          <p:nvPr/>
        </p:nvPicPr>
        <p:blipFill>
          <a:blip r:embed="rId2"/>
          <a:stretch>
            <a:fillRect/>
          </a:stretch>
        </p:blipFill>
        <p:spPr>
          <a:xfrm>
            <a:off x="6280190" y="1744504"/>
            <a:ext cx="1134070" cy="1360884"/>
          </a:xfrm>
          <a:prstGeom prst="rect">
            <a:avLst/>
          </a:prstGeom>
        </p:spPr>
      </p:pic>
      <p:sp>
        <p:nvSpPr>
          <p:cNvPr id="5" name="Text 1"/>
          <p:cNvSpPr/>
          <p:nvPr/>
        </p:nvSpPr>
        <p:spPr>
          <a:xfrm>
            <a:off x="7641074" y="1971318"/>
            <a:ext cx="3598069"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Fixed Threshold Problems</a:t>
            </a:r>
            <a:endParaRPr lang="en-US" sz="2200" dirty="0"/>
          </a:p>
        </p:txBody>
      </p:sp>
      <p:sp>
        <p:nvSpPr>
          <p:cNvPr id="6" name="Text 2"/>
          <p:cNvSpPr/>
          <p:nvPr/>
        </p:nvSpPr>
        <p:spPr>
          <a:xfrm>
            <a:off x="7641074" y="2461736"/>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Environmental variations cause false alarms</a:t>
            </a:r>
            <a:endParaRPr lang="en-US" sz="1750" dirty="0"/>
          </a:p>
        </p:txBody>
      </p:sp>
      <p:pic>
        <p:nvPicPr>
          <p:cNvPr id="7" name="Image 2" descr="preencoded.png">    </p:cNvPr>
          <p:cNvPicPr>
            <a:picLocks noChangeAspect="1"/>
          </p:cNvPicPr>
          <p:nvPr/>
        </p:nvPicPr>
        <p:blipFill>
          <a:blip r:embed="rId3"/>
          <a:stretch>
            <a:fillRect/>
          </a:stretch>
        </p:blipFill>
        <p:spPr>
          <a:xfrm>
            <a:off x="6280190" y="3105388"/>
            <a:ext cx="1134070" cy="1360884"/>
          </a:xfrm>
          <a:prstGeom prst="rect">
            <a:avLst/>
          </a:prstGeom>
        </p:spPr>
      </p:pic>
      <p:sp>
        <p:nvSpPr>
          <p:cNvPr id="8" name="Text 3"/>
          <p:cNvSpPr/>
          <p:nvPr/>
        </p:nvSpPr>
        <p:spPr>
          <a:xfrm>
            <a:off x="7641074" y="333220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Pattern Recognition</a:t>
            </a:r>
            <a:endParaRPr lang="en-US" sz="2200" dirty="0"/>
          </a:p>
        </p:txBody>
      </p:sp>
      <p:sp>
        <p:nvSpPr>
          <p:cNvPr id="9" name="Text 4"/>
          <p:cNvSpPr/>
          <p:nvPr/>
        </p:nvSpPr>
        <p:spPr>
          <a:xfrm>
            <a:off x="7641074" y="3822621"/>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ML identifies complex relationships between inputs</a:t>
            </a:r>
            <a:endParaRPr lang="en-US" sz="1750" dirty="0"/>
          </a:p>
        </p:txBody>
      </p:sp>
      <p:pic>
        <p:nvPicPr>
          <p:cNvPr id="10" name="Image 3" descr="preencoded.png">    </p:cNvPr>
          <p:cNvPicPr>
            <a:picLocks noChangeAspect="1"/>
          </p:cNvPicPr>
          <p:nvPr/>
        </p:nvPicPr>
        <p:blipFill>
          <a:blip r:embed="rId4"/>
          <a:stretch>
            <a:fillRect/>
          </a:stretch>
        </p:blipFill>
        <p:spPr>
          <a:xfrm>
            <a:off x="6280190" y="4466273"/>
            <a:ext cx="1134070" cy="1360884"/>
          </a:xfrm>
          <a:prstGeom prst="rect">
            <a:avLst/>
          </a:prstGeom>
        </p:spPr>
      </p:pic>
      <p:sp>
        <p:nvSpPr>
          <p:cNvPr id="11" name="Text 5"/>
          <p:cNvSpPr/>
          <p:nvPr/>
        </p:nvSpPr>
        <p:spPr>
          <a:xfrm>
            <a:off x="7641074" y="469308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Adaptive Detection</a:t>
            </a:r>
            <a:endParaRPr lang="en-US" sz="2200" dirty="0"/>
          </a:p>
        </p:txBody>
      </p:sp>
      <p:sp>
        <p:nvSpPr>
          <p:cNvPr id="12" name="Text 6"/>
          <p:cNvSpPr/>
          <p:nvPr/>
        </p:nvSpPr>
        <p:spPr>
          <a:xfrm>
            <a:off x="7641074" y="5183505"/>
            <a:ext cx="6195536"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Reduces false positives whilst maintaining sensitivity</a:t>
            </a:r>
            <a:endParaRPr lang="en-US" sz="1750" dirty="0"/>
          </a:p>
        </p:txBody>
      </p:sp>
      <p:sp>
        <p:nvSpPr>
          <p:cNvPr id="13" name="Text 7"/>
          <p:cNvSpPr/>
          <p:nvPr/>
        </p:nvSpPr>
        <p:spPr>
          <a:xfrm>
            <a:off x="6280190" y="6082308"/>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Traditional systems use single-value thresholds that cannot account for correlated sensor behaviour or gradual changes. Machine learning models process multiple input dimensions simultaneously, learning normal versus abnormal patterns through supervised training.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3658" y="1195388"/>
            <a:ext cx="7490341" cy="619363"/>
          </a:xfrm>
          <a:prstGeom prst="rect">
            <a:avLst/>
          </a:prstGeom>
          <a:noFill/>
          <a:ln/>
        </p:spPr>
        <p:txBody>
          <a:bodyPr wrap="none" lIns="0" tIns="0" rIns="0" bIns="0" rtlCol="0" anchor="t"/>
          <a:lstStyle/>
          <a:p>
            <a:pPr algn="l" indent="0" marL="0">
              <a:lnSpc>
                <a:spcPts val="4850"/>
              </a:lnSpc>
              <a:buNone/>
            </a:pPr>
            <a:r>
              <a:rPr lang="en-US" sz="3900" b="1" dirty="0">
                <a:solidFill>
                  <a:srgbClr val="000000"/>
                </a:solidFill>
                <a:latin typeface="Inter Bold" pitchFamily="34" charset="0"/>
                <a:ea typeface="Inter Bold" pitchFamily="34" charset="-122"/>
                <a:cs typeface="Inter Bold" pitchFamily="34" charset="-120"/>
              </a:rPr>
              <a:t>Machine Learning Architecture</a:t>
            </a:r>
            <a:endParaRPr lang="en-US" sz="3900" dirty="0"/>
          </a:p>
        </p:txBody>
      </p:sp>
      <p:sp>
        <p:nvSpPr>
          <p:cNvPr id="4" name="Text 1"/>
          <p:cNvSpPr/>
          <p:nvPr/>
        </p:nvSpPr>
        <p:spPr>
          <a:xfrm>
            <a:off x="693658" y="2247543"/>
            <a:ext cx="3636645" cy="743188"/>
          </a:xfrm>
          <a:prstGeom prst="rect">
            <a:avLst/>
          </a:prstGeom>
          <a:noFill/>
          <a:ln/>
        </p:spPr>
        <p:txBody>
          <a:bodyPr wrap="squar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Supervised Classification</a:t>
            </a:r>
            <a:endParaRPr lang="en-US" sz="2300" dirty="0"/>
          </a:p>
        </p:txBody>
      </p:sp>
      <p:sp>
        <p:nvSpPr>
          <p:cNvPr id="5" name="Text 2"/>
          <p:cNvSpPr/>
          <p:nvPr/>
        </p:nvSpPr>
        <p:spPr>
          <a:xfrm>
            <a:off x="693658" y="3163848"/>
            <a:ext cx="3636645" cy="1188244"/>
          </a:xfrm>
          <a:prstGeom prst="rect">
            <a:avLst/>
          </a:prstGeom>
          <a:noFill/>
          <a:ln/>
        </p:spPr>
        <p:txBody>
          <a:bodyPr wrap="square" lIns="0" tIns="0" rIns="0" bIns="0" rtlCol="0" anchor="t"/>
          <a:lstStyle/>
          <a:p>
            <a:pPr algn="l" indent="0" marL="0">
              <a:lnSpc>
                <a:spcPts val="2300"/>
              </a:lnSpc>
              <a:buNone/>
            </a:pPr>
            <a:r>
              <a:rPr lang="en-US" sz="1550" dirty="0">
                <a:solidFill>
                  <a:srgbClr val="272525"/>
                </a:solidFill>
                <a:latin typeface="Inter" pitchFamily="34" charset="0"/>
                <a:ea typeface="Inter" pitchFamily="34" charset="-122"/>
                <a:cs typeface="Inter" pitchFamily="34" charset="-120"/>
              </a:rPr>
              <a:t>Training dataset labelled with expert classifications enables model to learn decision boundaries between safe, warning, and danger states.</a:t>
            </a:r>
            <a:endParaRPr lang="en-US" sz="1550" dirty="0"/>
          </a:p>
        </p:txBody>
      </p:sp>
      <p:sp>
        <p:nvSpPr>
          <p:cNvPr id="6" name="Text 3"/>
          <p:cNvSpPr/>
          <p:nvPr/>
        </p:nvSpPr>
        <p:spPr>
          <a:xfrm>
            <a:off x="693658" y="4525208"/>
            <a:ext cx="2972872" cy="371594"/>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Three-Class Output</a:t>
            </a:r>
            <a:endParaRPr lang="en-US" sz="2300" dirty="0"/>
          </a:p>
        </p:txBody>
      </p:sp>
      <p:sp>
        <p:nvSpPr>
          <p:cNvPr id="7" name="Text 4"/>
          <p:cNvSpPr/>
          <p:nvPr/>
        </p:nvSpPr>
        <p:spPr>
          <a:xfrm>
            <a:off x="693658" y="5069919"/>
            <a:ext cx="3636645" cy="1903571"/>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272525"/>
                </a:solidFill>
                <a:latin typeface="Inter" pitchFamily="34" charset="0"/>
                <a:ea typeface="Inter" pitchFamily="34" charset="-122"/>
                <a:cs typeface="Inter" pitchFamily="34" charset="-120"/>
              </a:rPr>
              <a:t>Safe:</a:t>
            </a:r>
            <a:pPr algn="l" indent="0" marL="0">
              <a:lnSpc>
                <a:spcPts val="2300"/>
              </a:lnSpc>
              <a:buNone/>
            </a:pPr>
            <a:r>
              <a:rPr lang="en-US" sz="1550" dirty="0">
                <a:solidFill>
                  <a:srgbClr val="272525"/>
                </a:solidFill>
                <a:latin typeface="Inter" pitchFamily="34" charset="0"/>
                <a:ea typeface="Inter" pitchFamily="34" charset="-122"/>
                <a:cs typeface="Inter" pitchFamily="34" charset="-120"/>
              </a:rPr>
              <a:t> All readings within normal range</a:t>
            </a:r>
            <a:endParaRPr lang="en-US" sz="1550" dirty="0"/>
          </a:p>
          <a:p>
            <a:pPr algn="l" marL="342900" indent="-342900">
              <a:lnSpc>
                <a:spcPts val="2300"/>
              </a:lnSpc>
              <a:buSzPct val="100000"/>
              <a:buChar char="•"/>
            </a:pPr>
            <a:r>
              <a:rPr lang="en-US" sz="1550" b="1" dirty="0">
                <a:solidFill>
                  <a:srgbClr val="272525"/>
                </a:solidFill>
                <a:latin typeface="Inter" pitchFamily="34" charset="0"/>
                <a:ea typeface="Inter" pitchFamily="34" charset="-122"/>
                <a:cs typeface="Inter" pitchFamily="34" charset="-120"/>
              </a:rPr>
              <a:t>Warning:</a:t>
            </a:r>
            <a:pPr algn="l" indent="0" marL="0">
              <a:lnSpc>
                <a:spcPts val="2300"/>
              </a:lnSpc>
              <a:buNone/>
            </a:pPr>
            <a:r>
              <a:rPr lang="en-US" sz="1550" dirty="0">
                <a:solidFill>
                  <a:srgbClr val="272525"/>
                </a:solidFill>
                <a:latin typeface="Inter" pitchFamily="34" charset="0"/>
                <a:ea typeface="Inter" pitchFamily="34" charset="-122"/>
                <a:cs typeface="Inter" pitchFamily="34" charset="-120"/>
              </a:rPr>
              <a:t> Elevated levels requiring attention</a:t>
            </a:r>
            <a:endParaRPr lang="en-US" sz="1550" dirty="0"/>
          </a:p>
          <a:p>
            <a:pPr algn="l" marL="342900" indent="-342900">
              <a:lnSpc>
                <a:spcPts val="2300"/>
              </a:lnSpc>
              <a:buSzPct val="100000"/>
              <a:buChar char="•"/>
            </a:pPr>
            <a:r>
              <a:rPr lang="en-US" sz="1550" b="1" dirty="0">
                <a:solidFill>
                  <a:srgbClr val="272525"/>
                </a:solidFill>
                <a:latin typeface="Inter" pitchFamily="34" charset="0"/>
                <a:ea typeface="Inter" pitchFamily="34" charset="-122"/>
                <a:cs typeface="Inter" pitchFamily="34" charset="-120"/>
              </a:rPr>
              <a:t>Danger:</a:t>
            </a:r>
            <a:pPr algn="l" indent="0" marL="0">
              <a:lnSpc>
                <a:spcPts val="2300"/>
              </a:lnSpc>
              <a:buNone/>
            </a:pPr>
            <a:r>
              <a:rPr lang="en-US" sz="1550" dirty="0">
                <a:solidFill>
                  <a:srgbClr val="272525"/>
                </a:solidFill>
                <a:latin typeface="Inter" pitchFamily="34" charset="0"/>
                <a:ea typeface="Inter" pitchFamily="34" charset="-122"/>
                <a:cs typeface="Inter" pitchFamily="34" charset="-120"/>
              </a:rPr>
              <a:t> Immediate hazard requiring action</a:t>
            </a:r>
            <a:endParaRPr lang="en-US" sz="1550" dirty="0"/>
          </a:p>
        </p:txBody>
      </p:sp>
      <p:sp>
        <p:nvSpPr>
          <p:cNvPr id="8" name="Text 5"/>
          <p:cNvSpPr/>
          <p:nvPr/>
        </p:nvSpPr>
        <p:spPr>
          <a:xfrm>
            <a:off x="4821317" y="2247543"/>
            <a:ext cx="3632716" cy="371594"/>
          </a:xfrm>
          <a:prstGeom prst="rect">
            <a:avLst/>
          </a:prstGeom>
          <a:noFill/>
          <a:ln/>
        </p:spPr>
        <p:txBody>
          <a:bodyPr wrap="none" lIns="0" tIns="0" rIns="0" bIns="0" rtlCol="0" anchor="t"/>
          <a:lstStyle/>
          <a:p>
            <a:pPr algn="l" indent="0" marL="0">
              <a:lnSpc>
                <a:spcPts val="2900"/>
              </a:lnSpc>
              <a:buNone/>
            </a:pPr>
            <a:r>
              <a:rPr lang="en-US" sz="2300" b="1" dirty="0">
                <a:solidFill>
                  <a:srgbClr val="000000"/>
                </a:solidFill>
                <a:latin typeface="Inter Bold" pitchFamily="34" charset="0"/>
                <a:ea typeface="Inter Bold" pitchFamily="34" charset="-122"/>
                <a:cs typeface="Inter Bold" pitchFamily="34" charset="-120"/>
              </a:rPr>
              <a:t>Random Forest Classifier</a:t>
            </a:r>
            <a:endParaRPr lang="en-US" sz="2300" dirty="0"/>
          </a:p>
        </p:txBody>
      </p:sp>
      <p:sp>
        <p:nvSpPr>
          <p:cNvPr id="9" name="Text 6"/>
          <p:cNvSpPr/>
          <p:nvPr/>
        </p:nvSpPr>
        <p:spPr>
          <a:xfrm>
            <a:off x="4821317" y="2792254"/>
            <a:ext cx="3636645" cy="1188244"/>
          </a:xfrm>
          <a:prstGeom prst="rect">
            <a:avLst/>
          </a:prstGeom>
          <a:noFill/>
          <a:ln/>
        </p:spPr>
        <p:txBody>
          <a:bodyPr wrap="square" lIns="0" tIns="0" rIns="0" bIns="0" rtlCol="0" anchor="t"/>
          <a:lstStyle/>
          <a:p>
            <a:pPr algn="l" indent="0" marL="0">
              <a:lnSpc>
                <a:spcPts val="2300"/>
              </a:lnSpc>
              <a:buNone/>
            </a:pPr>
            <a:r>
              <a:rPr lang="en-US" sz="1550" dirty="0">
                <a:solidFill>
                  <a:srgbClr val="272525"/>
                </a:solidFill>
                <a:latin typeface="Inter" pitchFamily="34" charset="0"/>
                <a:ea typeface="Inter" pitchFamily="34" charset="-122"/>
                <a:cs typeface="Inter" pitchFamily="34" charset="-120"/>
              </a:rPr>
              <a:t>Ensemble method combining multiple decision trees provides robust performance with noisy sensor data. Advantages include:</a:t>
            </a:r>
            <a:endParaRPr lang="en-US" sz="1550" dirty="0"/>
          </a:p>
        </p:txBody>
      </p:sp>
      <p:sp>
        <p:nvSpPr>
          <p:cNvPr id="10" name="Text 7"/>
          <p:cNvSpPr/>
          <p:nvPr/>
        </p:nvSpPr>
        <p:spPr>
          <a:xfrm>
            <a:off x="4821317" y="4136350"/>
            <a:ext cx="3636645" cy="1964174"/>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272525"/>
                </a:solidFill>
                <a:latin typeface="Inter" pitchFamily="34" charset="0"/>
                <a:ea typeface="Inter" pitchFamily="34" charset="-122"/>
                <a:cs typeface="Inter" pitchFamily="34" charset="-120"/>
              </a:rPr>
              <a:t>Handles non-linear relationships</a:t>
            </a:r>
            <a:endParaRPr lang="en-US" sz="1550" dirty="0"/>
          </a:p>
          <a:p>
            <a:pPr algn="l" marL="342900" indent="-342900">
              <a:lnSpc>
                <a:spcPts val="2300"/>
              </a:lnSpc>
              <a:buSzPct val="100000"/>
              <a:buChar char="•"/>
            </a:pPr>
            <a:r>
              <a:rPr lang="en-US" sz="1550" dirty="0">
                <a:solidFill>
                  <a:srgbClr val="272525"/>
                </a:solidFill>
                <a:latin typeface="Inter" pitchFamily="34" charset="0"/>
                <a:ea typeface="Inter" pitchFamily="34" charset="-122"/>
                <a:cs typeface="Inter" pitchFamily="34" charset="-120"/>
              </a:rPr>
              <a:t>Resistant to overfitting</a:t>
            </a:r>
            <a:endParaRPr lang="en-US" sz="1550" dirty="0"/>
          </a:p>
          <a:p>
            <a:pPr algn="l" marL="342900" indent="-342900">
              <a:lnSpc>
                <a:spcPts val="2300"/>
              </a:lnSpc>
              <a:buSzPct val="100000"/>
              <a:buChar char="•"/>
            </a:pPr>
            <a:r>
              <a:rPr lang="en-US" sz="1550" dirty="0">
                <a:solidFill>
                  <a:srgbClr val="272525"/>
                </a:solidFill>
                <a:latin typeface="Inter" pitchFamily="34" charset="0"/>
                <a:ea typeface="Inter" pitchFamily="34" charset="-122"/>
                <a:cs typeface="Inter" pitchFamily="34" charset="-120"/>
              </a:rPr>
              <a:t>Provides feature importance metrics</a:t>
            </a:r>
            <a:endParaRPr lang="en-US" sz="1550" dirty="0"/>
          </a:p>
          <a:p>
            <a:pPr algn="l" marL="342900" indent="-342900">
              <a:lnSpc>
                <a:spcPts val="2300"/>
              </a:lnSpc>
              <a:buSzPct val="100000"/>
              <a:buChar char="•"/>
            </a:pPr>
            <a:r>
              <a:rPr lang="en-US" sz="1550" dirty="0">
                <a:solidFill>
                  <a:srgbClr val="272525"/>
                </a:solidFill>
                <a:latin typeface="Inter" pitchFamily="34" charset="0"/>
                <a:ea typeface="Inter" pitchFamily="34" charset="-122"/>
                <a:cs typeface="Inter" pitchFamily="34" charset="-120"/>
              </a:rPr>
              <a:t>Fast prediction suitable for real-time use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51071" y="609481"/>
            <a:ext cx="4611648" cy="576382"/>
          </a:xfrm>
          <a:prstGeom prst="rect">
            <a:avLst/>
          </a:prstGeom>
          <a:noFill/>
          <a:ln/>
        </p:spPr>
        <p:txBody>
          <a:bodyPr wrap="none" lIns="0" tIns="0" rIns="0" bIns="0" rtlCol="0" anchor="t"/>
          <a:lstStyle/>
          <a:p>
            <a:pPr algn="l" indent="0" marL="0">
              <a:lnSpc>
                <a:spcPts val="4500"/>
              </a:lnSpc>
              <a:buNone/>
            </a:pPr>
            <a:r>
              <a:rPr lang="en-US" sz="3600" b="1" dirty="0">
                <a:solidFill>
                  <a:srgbClr val="000000"/>
                </a:solidFill>
                <a:latin typeface="Inter Bold" pitchFamily="34" charset="0"/>
                <a:ea typeface="Inter Bold" pitchFamily="34" charset="-122"/>
                <a:cs typeface="Inter Bold" pitchFamily="34" charset="-120"/>
              </a:rPr>
              <a:t>AI System Workflow</a:t>
            </a:r>
            <a:endParaRPr lang="en-US" sz="3600" dirty="0"/>
          </a:p>
        </p:txBody>
      </p:sp>
      <p:pic>
        <p:nvPicPr>
          <p:cNvPr id="3" name="Image 0" descr="preencoded.png">    </p:cNvPr>
          <p:cNvPicPr>
            <a:picLocks noChangeAspect="1"/>
          </p:cNvPicPr>
          <p:nvPr/>
        </p:nvPicPr>
        <p:blipFill>
          <a:blip r:embed="rId1"/>
          <a:stretch>
            <a:fillRect/>
          </a:stretch>
        </p:blipFill>
        <p:spPr>
          <a:xfrm>
            <a:off x="951071" y="1485900"/>
            <a:ext cx="553403" cy="1143000"/>
          </a:xfrm>
          <a:prstGeom prst="rect">
            <a:avLst/>
          </a:prstGeom>
        </p:spPr>
      </p:pic>
      <p:sp>
        <p:nvSpPr>
          <p:cNvPr id="4" name="Text 1"/>
          <p:cNvSpPr/>
          <p:nvPr/>
        </p:nvSpPr>
        <p:spPr>
          <a:xfrm>
            <a:off x="1654493" y="1670328"/>
            <a:ext cx="2702004" cy="288250"/>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Sensor Data Acquisition</a:t>
            </a:r>
            <a:endParaRPr lang="en-US" sz="1800" dirty="0"/>
          </a:p>
        </p:txBody>
      </p:sp>
      <p:sp>
        <p:nvSpPr>
          <p:cNvPr id="5" name="Text 2"/>
          <p:cNvSpPr/>
          <p:nvPr/>
        </p:nvSpPr>
        <p:spPr>
          <a:xfrm>
            <a:off x="1654493" y="2048589"/>
            <a:ext cx="12024836" cy="267414"/>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ESP8266 continuously reads gas concentration and water presence values at regular intervals</a:t>
            </a:r>
            <a:endParaRPr lang="en-US" sz="1450" dirty="0"/>
          </a:p>
        </p:txBody>
      </p:sp>
      <p:pic>
        <p:nvPicPr>
          <p:cNvPr id="6" name="Image 1" descr="preencoded.png">    </p:cNvPr>
          <p:cNvPicPr>
            <a:picLocks noChangeAspect="1"/>
          </p:cNvPicPr>
          <p:nvPr/>
        </p:nvPicPr>
        <p:blipFill>
          <a:blip r:embed="rId2"/>
          <a:stretch>
            <a:fillRect/>
          </a:stretch>
        </p:blipFill>
        <p:spPr>
          <a:xfrm>
            <a:off x="1227773" y="2742724"/>
            <a:ext cx="553403" cy="1143000"/>
          </a:xfrm>
          <a:prstGeom prst="rect">
            <a:avLst/>
          </a:prstGeom>
        </p:spPr>
      </p:pic>
      <p:sp>
        <p:nvSpPr>
          <p:cNvPr id="7" name="Text 3"/>
          <p:cNvSpPr/>
          <p:nvPr/>
        </p:nvSpPr>
        <p:spPr>
          <a:xfrm>
            <a:off x="1931194" y="2927152"/>
            <a:ext cx="3141464" cy="288250"/>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Data Transmission via Wi-Fi</a:t>
            </a:r>
            <a:endParaRPr lang="en-US" sz="1800" dirty="0"/>
          </a:p>
        </p:txBody>
      </p:sp>
      <p:sp>
        <p:nvSpPr>
          <p:cNvPr id="8" name="Text 4"/>
          <p:cNvSpPr/>
          <p:nvPr/>
        </p:nvSpPr>
        <p:spPr>
          <a:xfrm>
            <a:off x="1931194" y="3305413"/>
            <a:ext cx="11748135" cy="267414"/>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HTTP POST request sends JSON-formatted readings to local Flask server</a:t>
            </a:r>
            <a:endParaRPr lang="en-US" sz="1450" dirty="0"/>
          </a:p>
        </p:txBody>
      </p:sp>
      <p:pic>
        <p:nvPicPr>
          <p:cNvPr id="9" name="Image 2" descr="preencoded.png">    </p:cNvPr>
          <p:cNvPicPr>
            <a:picLocks noChangeAspect="1"/>
          </p:cNvPicPr>
          <p:nvPr/>
        </p:nvPicPr>
        <p:blipFill>
          <a:blip r:embed="rId3"/>
          <a:stretch>
            <a:fillRect/>
          </a:stretch>
        </p:blipFill>
        <p:spPr>
          <a:xfrm>
            <a:off x="1504474" y="3999548"/>
            <a:ext cx="553403" cy="1143000"/>
          </a:xfrm>
          <a:prstGeom prst="rect">
            <a:avLst/>
          </a:prstGeom>
        </p:spPr>
      </p:pic>
      <p:sp>
        <p:nvSpPr>
          <p:cNvPr id="10" name="Text 5"/>
          <p:cNvSpPr/>
          <p:nvPr/>
        </p:nvSpPr>
        <p:spPr>
          <a:xfrm>
            <a:off x="2207895" y="4183975"/>
            <a:ext cx="2305764" cy="288250"/>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Feature Engineering</a:t>
            </a:r>
            <a:endParaRPr lang="en-US" sz="1800" dirty="0"/>
          </a:p>
        </p:txBody>
      </p:sp>
      <p:sp>
        <p:nvSpPr>
          <p:cNvPr id="11" name="Text 6"/>
          <p:cNvSpPr/>
          <p:nvPr/>
        </p:nvSpPr>
        <p:spPr>
          <a:xfrm>
            <a:off x="2207895" y="4562237"/>
            <a:ext cx="11471434" cy="267414"/>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Server calculates derived features: gas increase rate, duration of abnormal readings, trend analysis</a:t>
            </a:r>
            <a:endParaRPr lang="en-US" sz="1450" dirty="0"/>
          </a:p>
        </p:txBody>
      </p:sp>
      <p:pic>
        <p:nvPicPr>
          <p:cNvPr id="12" name="Image 3" descr="preencoded.png">    </p:cNvPr>
          <p:cNvPicPr>
            <a:picLocks noChangeAspect="1"/>
          </p:cNvPicPr>
          <p:nvPr/>
        </p:nvPicPr>
        <p:blipFill>
          <a:blip r:embed="rId4"/>
          <a:stretch>
            <a:fillRect/>
          </a:stretch>
        </p:blipFill>
        <p:spPr>
          <a:xfrm>
            <a:off x="1781175" y="5256371"/>
            <a:ext cx="553403" cy="1143000"/>
          </a:xfrm>
          <a:prstGeom prst="rect">
            <a:avLst/>
          </a:prstGeom>
        </p:spPr>
      </p:pic>
      <p:sp>
        <p:nvSpPr>
          <p:cNvPr id="13" name="Text 7"/>
          <p:cNvSpPr/>
          <p:nvPr/>
        </p:nvSpPr>
        <p:spPr>
          <a:xfrm>
            <a:off x="2484596" y="5440799"/>
            <a:ext cx="2305764" cy="288250"/>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ML Model Prediction</a:t>
            </a:r>
            <a:endParaRPr lang="en-US" sz="1800" dirty="0"/>
          </a:p>
        </p:txBody>
      </p:sp>
      <p:sp>
        <p:nvSpPr>
          <p:cNvPr id="14" name="Text 8"/>
          <p:cNvSpPr/>
          <p:nvPr/>
        </p:nvSpPr>
        <p:spPr>
          <a:xfrm>
            <a:off x="2484596" y="5819061"/>
            <a:ext cx="11194733" cy="267414"/>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Random Forest classifier processes features and outputs safety classification</a:t>
            </a:r>
            <a:endParaRPr lang="en-US" sz="1450" dirty="0"/>
          </a:p>
        </p:txBody>
      </p:sp>
      <p:pic>
        <p:nvPicPr>
          <p:cNvPr id="15" name="Image 4" descr="preencoded.png">    </p:cNvPr>
          <p:cNvPicPr>
            <a:picLocks noChangeAspect="1"/>
          </p:cNvPicPr>
          <p:nvPr/>
        </p:nvPicPr>
        <p:blipFill>
          <a:blip r:embed="rId5"/>
          <a:stretch>
            <a:fillRect/>
          </a:stretch>
        </p:blipFill>
        <p:spPr>
          <a:xfrm>
            <a:off x="1504474" y="6513195"/>
            <a:ext cx="553403" cy="1143000"/>
          </a:xfrm>
          <a:prstGeom prst="rect">
            <a:avLst/>
          </a:prstGeom>
        </p:spPr>
      </p:pic>
      <p:sp>
        <p:nvSpPr>
          <p:cNvPr id="16" name="Text 9"/>
          <p:cNvSpPr/>
          <p:nvPr/>
        </p:nvSpPr>
        <p:spPr>
          <a:xfrm>
            <a:off x="2207895" y="6697623"/>
            <a:ext cx="2305764" cy="288250"/>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Inter Bold" pitchFamily="34" charset="0"/>
                <a:ea typeface="Inter Bold" pitchFamily="34" charset="-122"/>
                <a:cs typeface="Inter Bold" pitchFamily="34" charset="-120"/>
              </a:rPr>
              <a:t>Alert Activation</a:t>
            </a:r>
            <a:endParaRPr lang="en-US" sz="1800" dirty="0"/>
          </a:p>
        </p:txBody>
      </p:sp>
      <p:sp>
        <p:nvSpPr>
          <p:cNvPr id="17" name="Text 10"/>
          <p:cNvSpPr/>
          <p:nvPr/>
        </p:nvSpPr>
        <p:spPr>
          <a:xfrm>
            <a:off x="2207895" y="7075884"/>
            <a:ext cx="11471434" cy="267414"/>
          </a:xfrm>
          <a:prstGeom prst="rect">
            <a:avLst/>
          </a:prstGeom>
          <a:noFill/>
          <a:ln/>
        </p:spPr>
        <p:txBody>
          <a:bodyPr wrap="none" lIns="0" tIns="0" rIns="0" bIns="0" rtlCol="0" anchor="t"/>
          <a:lstStyle/>
          <a:p>
            <a:pPr algn="l" indent="0" marL="0">
              <a:lnSpc>
                <a:spcPts val="2100"/>
              </a:lnSpc>
              <a:buNone/>
            </a:pPr>
            <a:r>
              <a:rPr lang="en-US" sz="1450" dirty="0">
                <a:solidFill>
                  <a:srgbClr val="272525"/>
                </a:solidFill>
                <a:latin typeface="Inter" pitchFamily="34" charset="0"/>
                <a:ea typeface="Inter" pitchFamily="34" charset="-122"/>
                <a:cs typeface="Inter" pitchFamily="34" charset="-120"/>
              </a:rPr>
              <a:t>GPIO pins update LED states and buzzer based on predicted class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2707" y="1246108"/>
            <a:ext cx="5196721" cy="627459"/>
          </a:xfrm>
          <a:prstGeom prst="rect">
            <a:avLst/>
          </a:prstGeom>
          <a:noFill/>
          <a:ln/>
        </p:spPr>
        <p:txBody>
          <a:bodyPr wrap="none" lIns="0" tIns="0" rIns="0" bIns="0" rtlCol="0" anchor="t"/>
          <a:lstStyle/>
          <a:p>
            <a:pPr algn="l" indent="0" marL="0">
              <a:lnSpc>
                <a:spcPts val="4900"/>
              </a:lnSpc>
              <a:buNone/>
            </a:pPr>
            <a:r>
              <a:rPr lang="en-US" sz="3950" b="1" dirty="0">
                <a:solidFill>
                  <a:srgbClr val="000000"/>
                </a:solidFill>
                <a:latin typeface="Inter Bold" pitchFamily="34" charset="0"/>
                <a:ea typeface="Inter Bold" pitchFamily="34" charset="-122"/>
                <a:cs typeface="Inter Bold" pitchFamily="34" charset="-120"/>
              </a:rPr>
              <a:t>Dataset and Features</a:t>
            </a:r>
            <a:endParaRPr lang="en-US" sz="3950" dirty="0"/>
          </a:p>
        </p:txBody>
      </p:sp>
      <p:sp>
        <p:nvSpPr>
          <p:cNvPr id="4" name="Text 1"/>
          <p:cNvSpPr/>
          <p:nvPr/>
        </p:nvSpPr>
        <p:spPr>
          <a:xfrm>
            <a:off x="702707" y="2317790"/>
            <a:ext cx="3011924" cy="376476"/>
          </a:xfrm>
          <a:prstGeom prst="rect">
            <a:avLst/>
          </a:prstGeom>
          <a:noFill/>
          <a:ln/>
        </p:spPr>
        <p:txBody>
          <a:bodyPr wrap="none" lIns="0" tIns="0" rIns="0" bIns="0" rtlCol="0" anchor="t"/>
          <a:lstStyle/>
          <a:p>
            <a:pPr algn="l" indent="0" marL="0">
              <a:lnSpc>
                <a:spcPts val="2950"/>
              </a:lnSpc>
              <a:buNone/>
            </a:pPr>
            <a:r>
              <a:rPr lang="en-US" sz="2350" b="1" dirty="0">
                <a:solidFill>
                  <a:srgbClr val="000000"/>
                </a:solidFill>
                <a:latin typeface="Inter Bold" pitchFamily="34" charset="0"/>
                <a:ea typeface="Inter Bold" pitchFamily="34" charset="-122"/>
                <a:cs typeface="Inter Bold" pitchFamily="34" charset="-120"/>
              </a:rPr>
              <a:t>Input Features</a:t>
            </a:r>
            <a:endParaRPr lang="en-US" sz="2350" dirty="0"/>
          </a:p>
        </p:txBody>
      </p:sp>
      <p:sp>
        <p:nvSpPr>
          <p:cNvPr id="5" name="Text 2"/>
          <p:cNvSpPr/>
          <p:nvPr/>
        </p:nvSpPr>
        <p:spPr>
          <a:xfrm>
            <a:off x="702707" y="2871907"/>
            <a:ext cx="3624382" cy="2126694"/>
          </a:xfrm>
          <a:prstGeom prst="rect">
            <a:avLst/>
          </a:prstGeom>
          <a:noFill/>
          <a:ln/>
        </p:spPr>
        <p:txBody>
          <a:bodyPr wrap="square" lIns="0" tIns="0" rIns="0" bIns="0" rtlCol="0" anchor="t"/>
          <a:lstStyle/>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Gas sensor value (0-1023)</a:t>
            </a:r>
            <a:endParaRPr lang="en-US" sz="1550" dirty="0"/>
          </a:p>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Water sensor binary state</a:t>
            </a:r>
            <a:endParaRPr lang="en-US" sz="1550" dirty="0"/>
          </a:p>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Gas increase rate (samples/sec)</a:t>
            </a:r>
            <a:endParaRPr lang="en-US" sz="1550" dirty="0"/>
          </a:p>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Duration of abnormal reading</a:t>
            </a:r>
            <a:endParaRPr lang="en-US" sz="1550" dirty="0"/>
          </a:p>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Temperature compensation value</a:t>
            </a:r>
            <a:endParaRPr lang="en-US" sz="1550" dirty="0"/>
          </a:p>
          <a:p>
            <a:pPr algn="l" marL="342900" indent="-342900">
              <a:lnSpc>
                <a:spcPts val="2350"/>
              </a:lnSpc>
              <a:buSzPct val="100000"/>
              <a:buChar char="•"/>
            </a:pPr>
            <a:r>
              <a:rPr lang="en-US" sz="1550" dirty="0">
                <a:solidFill>
                  <a:srgbClr val="272525"/>
                </a:solidFill>
                <a:latin typeface="Inter" pitchFamily="34" charset="0"/>
                <a:ea typeface="Inter" pitchFamily="34" charset="-122"/>
                <a:cs typeface="Inter" pitchFamily="34" charset="-120"/>
              </a:rPr>
              <a:t>Time since last alarm</a:t>
            </a:r>
            <a:endParaRPr lang="en-US" sz="1550" dirty="0"/>
          </a:p>
        </p:txBody>
      </p:sp>
      <p:sp>
        <p:nvSpPr>
          <p:cNvPr id="6" name="Text 3"/>
          <p:cNvSpPr/>
          <p:nvPr/>
        </p:nvSpPr>
        <p:spPr>
          <a:xfrm>
            <a:off x="4824532" y="2317790"/>
            <a:ext cx="3232309" cy="376476"/>
          </a:xfrm>
          <a:prstGeom prst="rect">
            <a:avLst/>
          </a:prstGeom>
          <a:noFill/>
          <a:ln/>
        </p:spPr>
        <p:txBody>
          <a:bodyPr wrap="none" lIns="0" tIns="0" rIns="0" bIns="0" rtlCol="0" anchor="t"/>
          <a:lstStyle/>
          <a:p>
            <a:pPr algn="l" indent="0" marL="0">
              <a:lnSpc>
                <a:spcPts val="2950"/>
              </a:lnSpc>
              <a:buNone/>
            </a:pPr>
            <a:r>
              <a:rPr lang="en-US" sz="2350" b="1" dirty="0">
                <a:solidFill>
                  <a:srgbClr val="000000"/>
                </a:solidFill>
                <a:latin typeface="Inter Bold" pitchFamily="34" charset="0"/>
                <a:ea typeface="Inter Bold" pitchFamily="34" charset="-122"/>
                <a:cs typeface="Inter Bold" pitchFamily="34" charset="-120"/>
              </a:rPr>
              <a:t>Training Methodology</a:t>
            </a:r>
            <a:endParaRPr lang="en-US" sz="2350" dirty="0"/>
          </a:p>
        </p:txBody>
      </p:sp>
      <p:sp>
        <p:nvSpPr>
          <p:cNvPr id="7" name="Text 4"/>
          <p:cNvSpPr/>
          <p:nvPr/>
        </p:nvSpPr>
        <p:spPr>
          <a:xfrm>
            <a:off x="4824532" y="2871907"/>
            <a:ext cx="3624382" cy="1210628"/>
          </a:xfrm>
          <a:prstGeom prst="rect">
            <a:avLst/>
          </a:prstGeom>
          <a:noFill/>
          <a:ln/>
        </p:spPr>
        <p:txBody>
          <a:bodyPr wrap="square" lIns="0" tIns="0" rIns="0" bIns="0" rtlCol="0" anchor="t"/>
          <a:lstStyle/>
          <a:p>
            <a:pPr algn="l" indent="0" marL="0">
              <a:lnSpc>
                <a:spcPts val="2350"/>
              </a:lnSpc>
              <a:buNone/>
            </a:pPr>
            <a:r>
              <a:rPr lang="en-US" sz="1550" dirty="0">
                <a:solidFill>
                  <a:srgbClr val="272525"/>
                </a:solidFill>
                <a:latin typeface="Inter" pitchFamily="34" charset="0"/>
                <a:ea typeface="Inter" pitchFamily="34" charset="-122"/>
                <a:cs typeface="Inter" pitchFamily="34" charset="-120"/>
              </a:rPr>
              <a:t>Dataset generated through controlled testing with simulated leak scenarios. Labels assigned based on safety thresholds.</a:t>
            </a:r>
            <a:endParaRPr lang="en-US" sz="1550" dirty="0"/>
          </a:p>
        </p:txBody>
      </p:sp>
      <p:sp>
        <p:nvSpPr>
          <p:cNvPr id="8" name="Text 5"/>
          <p:cNvSpPr/>
          <p:nvPr/>
        </p:nvSpPr>
        <p:spPr>
          <a:xfrm>
            <a:off x="4824532" y="4242435"/>
            <a:ext cx="3624382" cy="1513284"/>
          </a:xfrm>
          <a:prstGeom prst="rect">
            <a:avLst/>
          </a:prstGeom>
          <a:noFill/>
          <a:ln/>
        </p:spPr>
        <p:txBody>
          <a:bodyPr wrap="square" lIns="0" tIns="0" rIns="0" bIns="0" rtlCol="0" anchor="t"/>
          <a:lstStyle/>
          <a:p>
            <a:pPr algn="l" indent="0" marL="0">
              <a:lnSpc>
                <a:spcPts val="2350"/>
              </a:lnSpc>
              <a:buNone/>
            </a:pPr>
            <a:r>
              <a:rPr lang="en-US" sz="1550" b="1" dirty="0">
                <a:solidFill>
                  <a:srgbClr val="272525"/>
                </a:solidFill>
                <a:latin typeface="Inter" pitchFamily="34" charset="0"/>
                <a:ea typeface="Inter" pitchFamily="34" charset="-122"/>
                <a:cs typeface="Inter" pitchFamily="34" charset="-120"/>
              </a:rPr>
              <a:t>Model Validation:</a:t>
            </a:r>
            <a:pPr algn="l" indent="0" marL="0">
              <a:lnSpc>
                <a:spcPts val="2350"/>
              </a:lnSpc>
              <a:buNone/>
            </a:pPr>
            <a:r>
              <a:rPr lang="en-US" sz="1550" dirty="0">
                <a:solidFill>
                  <a:srgbClr val="272525"/>
                </a:solidFill>
                <a:latin typeface="Inter" pitchFamily="34" charset="0"/>
                <a:ea typeface="Inter" pitchFamily="34" charset="-122"/>
                <a:cs typeface="Inter" pitchFamily="34" charset="-120"/>
              </a:rPr>
              <a:t> K-fold cross-validation ensures generalisation to unseen data. Confusion matrix analysis identifies misclassification patterns.</a:t>
            </a:r>
            <a:endParaRPr lang="en-US" sz="1550" dirty="0"/>
          </a:p>
        </p:txBody>
      </p:sp>
      <p:sp>
        <p:nvSpPr>
          <p:cNvPr id="9" name="Text 6"/>
          <p:cNvSpPr/>
          <p:nvPr/>
        </p:nvSpPr>
        <p:spPr>
          <a:xfrm>
            <a:off x="4824532" y="5915620"/>
            <a:ext cx="3624382" cy="907971"/>
          </a:xfrm>
          <a:prstGeom prst="rect">
            <a:avLst/>
          </a:prstGeom>
          <a:noFill/>
          <a:ln/>
        </p:spPr>
        <p:txBody>
          <a:bodyPr wrap="square" lIns="0" tIns="0" rIns="0" bIns="0" rtlCol="0" anchor="t"/>
          <a:lstStyle/>
          <a:p>
            <a:pPr algn="l" indent="0" marL="0">
              <a:lnSpc>
                <a:spcPts val="2350"/>
              </a:lnSpc>
              <a:buNone/>
            </a:pPr>
            <a:r>
              <a:rPr lang="en-US" sz="1550" b="1" dirty="0">
                <a:solidFill>
                  <a:srgbClr val="272525"/>
                </a:solidFill>
                <a:latin typeface="Inter" pitchFamily="34" charset="0"/>
                <a:ea typeface="Inter" pitchFamily="34" charset="-122"/>
                <a:cs typeface="Inter" pitchFamily="34" charset="-120"/>
              </a:rPr>
              <a:t>Performance Metrics:</a:t>
            </a:r>
            <a:pPr algn="l" indent="0" marL="0">
              <a:lnSpc>
                <a:spcPts val="2350"/>
              </a:lnSpc>
              <a:buNone/>
            </a:pPr>
            <a:r>
              <a:rPr lang="en-US" sz="1550" dirty="0">
                <a:solidFill>
                  <a:srgbClr val="272525"/>
                </a:solidFill>
                <a:latin typeface="Inter" pitchFamily="34" charset="0"/>
                <a:ea typeface="Inter" pitchFamily="34" charset="-122"/>
                <a:cs typeface="Inter" pitchFamily="34" charset="-120"/>
              </a:rPr>
              <a:t> Accuracy, precision, recall, and F1-score calculated for each class.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2026-03-11T08:56:15Z</dcterms:created>
  <dcterms:modified xsi:type="dcterms:W3CDTF">2026-03-11T08:56:15Z</dcterms:modified>
</cp:coreProperties>
</file>